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338" r:id="rId5"/>
    <p:sldId id="405" r:id="rId6"/>
    <p:sldId id="399" r:id="rId7"/>
    <p:sldId id="400" r:id="rId8"/>
    <p:sldId id="401" r:id="rId9"/>
    <p:sldId id="408" r:id="rId10"/>
    <p:sldId id="402" r:id="rId11"/>
    <p:sldId id="403" r:id="rId12"/>
    <p:sldId id="404" r:id="rId13"/>
    <p:sldId id="406" r:id="rId14"/>
    <p:sldId id="407" r:id="rId15"/>
    <p:sldId id="410" r:id="rId16"/>
    <p:sldId id="409" r:id="rId17"/>
  </p:sldIdLst>
  <p:sldSz cx="17881600" cy="10058400"/>
  <p:notesSz cx="6858000" cy="9144000"/>
  <p:defaultTextStyle>
    <a:defPPr>
      <a:defRPr lang="en-US"/>
    </a:defPPr>
    <a:lvl1pPr marL="0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1pPr>
    <a:lvl2pPr marL="614438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2pPr>
    <a:lvl3pPr marL="1228876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3pPr>
    <a:lvl4pPr marL="1843312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4pPr>
    <a:lvl5pPr marL="2457750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5pPr>
    <a:lvl6pPr marL="3072188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6pPr>
    <a:lvl7pPr marL="3686626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7pPr>
    <a:lvl8pPr marL="4301062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8pPr>
    <a:lvl9pPr marL="4915500" algn="l" defTabSz="1228876" rtl="0" eaLnBrk="1" latinLnBrk="0" hangingPunct="1">
      <a:defRPr sz="241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C1E5CB-C589-4BE0-B5C6-F0DD75ED754D}">
          <p14:sldIdLst>
            <p14:sldId id="338"/>
            <p14:sldId id="405"/>
          </p14:sldIdLst>
        </p14:section>
        <p14:section name="Machine WW Detergent" id="{0804DD3A-3FDD-49F6-B967-AA5DA1A257B7}">
          <p14:sldIdLst>
            <p14:sldId id="399"/>
            <p14:sldId id="400"/>
            <p14:sldId id="401"/>
          </p14:sldIdLst>
        </p14:section>
        <p14:section name="Manual WW Detergent" id="{DA36FE2D-C5C6-46F3-B5C8-B235997C5C19}">
          <p14:sldIdLst>
            <p14:sldId id="408"/>
          </p14:sldIdLst>
        </p14:section>
        <p14:section name="Floor Cleaners" id="{6AD10FD6-CC7B-4239-8E17-5C39A34FEA0B}">
          <p14:sldIdLst>
            <p14:sldId id="402"/>
          </p14:sldIdLst>
        </p14:section>
        <p14:section name="Pre-Soak" id="{B7479056-85CA-4722-987C-9EAA43D1B5FD}">
          <p14:sldIdLst>
            <p14:sldId id="403"/>
          </p14:sldIdLst>
        </p14:section>
        <p14:section name="Laundry" id="{1CADA10F-277D-4E9F-B06C-433A6095CD56}">
          <p14:sldIdLst>
            <p14:sldId id="404"/>
            <p14:sldId id="406"/>
            <p14:sldId id="407"/>
          </p14:sldIdLst>
        </p14:section>
        <p14:section name="Dishmachine" id="{325200AE-8AB2-42F0-86D2-84B62DD5CCAF}">
          <p14:sldIdLst>
            <p14:sldId id="410"/>
            <p14:sldId id="4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779D40-937A-13CB-53C4-66AE4F7DAE11}" name="Snodgrass, Ed" initials="SE" userId="S::Ed.Snodgrass@ecolab.com::bf8a89cd-342e-408b-9264-41dae0911e5b" providerId="AD"/>
  <p188:author id="{326D3A4A-64FB-A858-8053-7C5E6E5C0CBB}" name="Lockner, Sarah" initials="LS" userId="S::sarah.lockner@ecolab.com::a2d57ba9-00fa-4f13-a7e3-ace92b16bc37" providerId="AD"/>
  <p188:author id="{0CE2D683-00EB-A5A9-E5B1-5B6F5CA45F74}" name="Wilkoske, Melissa" initials="WM" userId="S::melissa.wilkoske@ecolab.com::d1ed45b5-a9d5-47a3-b3eb-c0beb1f9529b" providerId="AD"/>
  <p188:author id="{AFD4E9CD-C163-2CEB-5918-00046A0C0480}" name="Bakken, Amanda" initials="BA" userId="S::amanda.bakken@ecolab.com::d725fc13-aee2-4303-ad8b-76ea45947fd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6" autoAdjust="0"/>
    <p:restoredTop sz="94660"/>
  </p:normalViewPr>
  <p:slideViewPr>
    <p:cSldViewPr snapToGrid="0">
      <p:cViewPr varScale="1">
        <p:scale>
          <a:sx n="66" d="100"/>
          <a:sy n="66" d="100"/>
        </p:scale>
        <p:origin x="274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43FDD-19AB-4F13-B43B-C616C12DFB86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42582-4E15-49C0-A45E-789FBEBB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39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1pPr>
    <a:lvl2pPr marL="614438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2pPr>
    <a:lvl3pPr marL="1228876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3pPr>
    <a:lvl4pPr marL="1843312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4pPr>
    <a:lvl5pPr marL="2457750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5pPr>
    <a:lvl6pPr marL="3072188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6pPr>
    <a:lvl7pPr marL="3686626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7pPr>
    <a:lvl8pPr marL="4301062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8pPr>
    <a:lvl9pPr marL="4915500" algn="l" defTabSz="1228876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N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B96A1E65-4FFA-457D-EA99-AE8FE15D46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53"/>
          <a:stretch/>
        </p:blipFill>
        <p:spPr>
          <a:xfrm>
            <a:off x="0" y="0"/>
            <a:ext cx="17881600" cy="10058400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53BA8720-C6A8-A816-3A46-09D2930CC735}"/>
              </a:ext>
            </a:extLst>
          </p:cNvPr>
          <p:cNvSpPr/>
          <p:nvPr userDrawn="1"/>
        </p:nvSpPr>
        <p:spPr>
          <a:xfrm rot="5400000" flipV="1">
            <a:off x="14545812" y="6722610"/>
            <a:ext cx="3345606" cy="3325979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48">
              <a:solidFill>
                <a:srgbClr val="EFEFEF"/>
              </a:solidFill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396631E6-CD73-B967-B031-D8D171E32797}"/>
              </a:ext>
            </a:extLst>
          </p:cNvPr>
          <p:cNvSpPr/>
          <p:nvPr userDrawn="1"/>
        </p:nvSpPr>
        <p:spPr>
          <a:xfrm rot="16200000">
            <a:off x="11156219" y="19780"/>
            <a:ext cx="6745168" cy="6705599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48">
              <a:solidFill>
                <a:srgbClr val="EFEFEF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F869CB-0E38-388B-E91D-934A88E9DA7C}"/>
              </a:ext>
            </a:extLst>
          </p:cNvPr>
          <p:cNvGrpSpPr/>
          <p:nvPr userDrawn="1"/>
        </p:nvGrpSpPr>
        <p:grpSpPr>
          <a:xfrm>
            <a:off x="894082" y="3528086"/>
            <a:ext cx="11973762" cy="3297115"/>
            <a:chOff x="609599" y="2110953"/>
            <a:chExt cx="5608321" cy="224803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448AEE-2C15-6455-8925-570A3A9EBA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599" y="4358986"/>
              <a:ext cx="560832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BA2F36-A50B-56AF-9429-3E813B0FF6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599" y="2110953"/>
              <a:ext cx="560832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3130677-D6A7-E2C8-17DA-63CDD1B484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9552" y="3621343"/>
            <a:ext cx="11958292" cy="308248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7333" b="1">
                <a:solidFill>
                  <a:schemeClr val="bg1"/>
                </a:solidFill>
              </a:defRPr>
            </a:lvl1pPr>
            <a:lvl2pPr marL="670544" indent="0">
              <a:buNone/>
              <a:defRPr sz="6600">
                <a:solidFill>
                  <a:schemeClr val="bg1"/>
                </a:solidFill>
              </a:defRPr>
            </a:lvl2pPr>
            <a:lvl3pPr marL="1341089" indent="0">
              <a:buNone/>
              <a:defRPr>
                <a:solidFill>
                  <a:schemeClr val="bg1"/>
                </a:solidFill>
              </a:defRPr>
            </a:lvl3pPr>
            <a:lvl4pPr marL="2011633" indent="0">
              <a:buNone/>
              <a:defRPr>
                <a:solidFill>
                  <a:schemeClr val="bg1"/>
                </a:solidFill>
              </a:defRPr>
            </a:lvl4pPr>
            <a:lvl5pPr marL="268217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divider text styles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0937CE1-3855-05A4-EF08-94E261351D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841" y="8843980"/>
            <a:ext cx="2346960" cy="448903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40BC33C8-B2D5-F168-C49D-4FB35C28B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082" y="6313998"/>
            <a:ext cx="6929121" cy="109479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107"/>
              </a:lnSpc>
              <a:buNone/>
              <a:defRPr sz="352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0544" indent="0" algn="ctr">
              <a:buNone/>
              <a:defRPr sz="2933"/>
            </a:lvl2pPr>
            <a:lvl3pPr marL="1341089" indent="0" algn="ctr">
              <a:buNone/>
              <a:defRPr sz="2640"/>
            </a:lvl3pPr>
            <a:lvl4pPr marL="2011633" indent="0" algn="ctr">
              <a:buNone/>
              <a:defRPr sz="2347"/>
            </a:lvl4pPr>
            <a:lvl5pPr marL="2682178" indent="0" algn="ctr">
              <a:buNone/>
              <a:defRPr sz="2347"/>
            </a:lvl5pPr>
            <a:lvl6pPr marL="3352722" indent="0" algn="ctr">
              <a:buNone/>
              <a:defRPr sz="2347"/>
            </a:lvl6pPr>
            <a:lvl7pPr marL="4023266" indent="0" algn="ctr">
              <a:buNone/>
              <a:defRPr sz="2347"/>
            </a:lvl7pPr>
            <a:lvl8pPr marL="4693811" indent="0" algn="ctr">
              <a:buNone/>
              <a:defRPr sz="2347"/>
            </a:lvl8pPr>
            <a:lvl9pPr marL="5364355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70C6CE6-C93F-F480-BF05-F14DE202F0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4081" y="7716296"/>
            <a:ext cx="4582160" cy="6705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347">
                <a:solidFill>
                  <a:schemeClr val="bg1"/>
                </a:solidFill>
              </a:defRPr>
            </a:lvl1pPr>
            <a:lvl2pPr marL="670544" indent="0">
              <a:buNone/>
              <a:defRPr>
                <a:solidFill>
                  <a:schemeClr val="bg1"/>
                </a:solidFill>
              </a:defRPr>
            </a:lvl2pPr>
            <a:lvl3pPr marL="1341089" indent="0">
              <a:buNone/>
              <a:defRPr>
                <a:solidFill>
                  <a:schemeClr val="bg1"/>
                </a:solidFill>
              </a:defRPr>
            </a:lvl3pPr>
            <a:lvl4pPr marL="2011633" indent="0">
              <a:buNone/>
              <a:defRPr>
                <a:solidFill>
                  <a:schemeClr val="bg1"/>
                </a:solidFill>
              </a:defRPr>
            </a:lvl4pPr>
            <a:lvl5pPr marL="268217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</p:spTree>
    <p:extLst>
      <p:ext uri="{BB962C8B-B14F-4D97-AF65-F5344CB8AC3E}">
        <p14:creationId xmlns:p14="http://schemas.microsoft.com/office/powerpoint/2010/main" val="4071793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Blue_no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C48DFC-94C6-A420-A392-20502D3831C5}"/>
              </a:ext>
            </a:extLst>
          </p:cNvPr>
          <p:cNvSpPr/>
          <p:nvPr userDrawn="1"/>
        </p:nvSpPr>
        <p:spPr>
          <a:xfrm>
            <a:off x="0" y="0"/>
            <a:ext cx="17881600" cy="10058400"/>
          </a:xfrm>
          <a:prstGeom prst="rect">
            <a:avLst/>
          </a:prstGeom>
          <a:gradFill flip="none" rotWithShape="1">
            <a:gsLst>
              <a:gs pos="0">
                <a:srgbClr val="093675"/>
              </a:gs>
              <a:gs pos="70000">
                <a:schemeClr val="tx2"/>
              </a:gs>
            </a:gsLst>
            <a:lin ang="19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48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A3ACB3-3638-9634-BEA7-FB2DC0F1D3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76289" y="2639263"/>
            <a:ext cx="7279727" cy="7279727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C73912-5B86-6973-6D20-81C48265A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2" y="3487958"/>
            <a:ext cx="11958292" cy="308248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7333" b="1">
                <a:solidFill>
                  <a:schemeClr val="bg1"/>
                </a:solidFill>
              </a:defRPr>
            </a:lvl1pPr>
            <a:lvl2pPr marL="670544" indent="0">
              <a:buNone/>
              <a:defRPr sz="6600">
                <a:solidFill>
                  <a:schemeClr val="bg1"/>
                </a:solidFill>
              </a:defRPr>
            </a:lvl2pPr>
            <a:lvl3pPr marL="1341089" indent="0">
              <a:buNone/>
              <a:defRPr>
                <a:solidFill>
                  <a:schemeClr val="bg1"/>
                </a:solidFill>
              </a:defRPr>
            </a:lvl3pPr>
            <a:lvl4pPr marL="2011633" indent="0">
              <a:buNone/>
              <a:defRPr>
                <a:solidFill>
                  <a:schemeClr val="bg1"/>
                </a:solidFill>
              </a:defRPr>
            </a:lvl4pPr>
            <a:lvl5pPr marL="268217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divider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549FB2-6F32-EB88-0D1E-E33F59F1E450}"/>
              </a:ext>
            </a:extLst>
          </p:cNvPr>
          <p:cNvCxnSpPr>
            <a:cxnSpLocks/>
          </p:cNvCxnSpPr>
          <p:nvPr userDrawn="1"/>
        </p:nvCxnSpPr>
        <p:spPr>
          <a:xfrm>
            <a:off x="894079" y="6765931"/>
            <a:ext cx="1207005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134D27-1F0E-2444-70A2-BE2E53984477}"/>
              </a:ext>
            </a:extLst>
          </p:cNvPr>
          <p:cNvCxnSpPr>
            <a:cxnSpLocks/>
          </p:cNvCxnSpPr>
          <p:nvPr userDrawn="1"/>
        </p:nvCxnSpPr>
        <p:spPr>
          <a:xfrm>
            <a:off x="894079" y="3299262"/>
            <a:ext cx="1207005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064232B-D0F4-6123-4F9B-34A53C049A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9868" y="9396469"/>
            <a:ext cx="1810512" cy="346295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E9720B1A-D96B-79D1-43FD-C3AC28F0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53" b="1">
                <a:solidFill>
                  <a:schemeClr val="bg1"/>
                </a:solidFill>
              </a:defRPr>
            </a:lvl1pPr>
          </a:lstStyle>
          <a:p>
            <a:fld id="{5367269B-BB66-1242-895A-E957DF8587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2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_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CFBFFE4-5B21-0B82-C53B-6CCFBAAC05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908" y="1795149"/>
            <a:ext cx="16590262" cy="696671"/>
          </a:xfrm>
          <a:prstGeom prst="rect">
            <a:avLst/>
          </a:prstGeom>
        </p:spPr>
        <p:txBody>
          <a:bodyPr lIns="45720" rIns="45720">
            <a:normAutofit/>
          </a:bodyPr>
          <a:lstStyle>
            <a:lvl1pPr marL="0" indent="0">
              <a:lnSpc>
                <a:spcPct val="100000"/>
              </a:lnSpc>
              <a:buNone/>
              <a:defRPr sz="2933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4975325-ADF2-B44E-CB6C-2BBE7E287C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908" y="535518"/>
            <a:ext cx="16590262" cy="1209912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>
              <a:defRPr sz="5867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CA80B5-2C69-4C5D-8CA8-3938660E4B02}"/>
              </a:ext>
            </a:extLst>
          </p:cNvPr>
          <p:cNvGrpSpPr/>
          <p:nvPr userDrawn="1"/>
        </p:nvGrpSpPr>
        <p:grpSpPr>
          <a:xfrm>
            <a:off x="17233200" y="9080834"/>
            <a:ext cx="651298" cy="977566"/>
            <a:chOff x="7620002" y="-5"/>
            <a:chExt cx="4572004" cy="6862347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A2368CA1-328C-206C-321E-005DC26D5C50}"/>
                </a:ext>
              </a:extLst>
            </p:cNvPr>
            <p:cNvSpPr/>
            <p:nvPr userDrawn="1"/>
          </p:nvSpPr>
          <p:spPr>
            <a:xfrm rot="16200000">
              <a:off x="7606513" y="13484"/>
              <a:ext cx="4598978" cy="4571999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48">
                <a:solidFill>
                  <a:srgbClr val="EFEFEF"/>
                </a:solidFill>
              </a:endParaRPr>
            </a:p>
          </p:txBody>
        </p:sp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EB556B41-7EC0-1714-9414-C333BDCA39CC}"/>
                </a:ext>
              </a:extLst>
            </p:cNvPr>
            <p:cNvSpPr/>
            <p:nvPr userDrawn="1"/>
          </p:nvSpPr>
          <p:spPr>
            <a:xfrm rot="5400000" flipV="1">
              <a:off x="9930946" y="4601283"/>
              <a:ext cx="2267711" cy="2254408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48">
                <a:solidFill>
                  <a:srgbClr val="EFEFEF"/>
                </a:solidFill>
              </a:endParaRPr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C47DDB-1914-FB82-DF0C-CACECA3D9CFE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36908" y="2491818"/>
            <a:ext cx="16590262" cy="6381962"/>
          </a:xfrm>
          <a:prstGeom prst="rect">
            <a:avLst/>
          </a:prstGeom>
        </p:spPr>
        <p:txBody>
          <a:bodyPr lIns="45720" rIns="45720" numCol="1" spcCol="0">
            <a:normAutofit/>
          </a:bodyPr>
          <a:lstStyle>
            <a:lvl1pPr marL="0" indent="0">
              <a:lnSpc>
                <a:spcPct val="100000"/>
              </a:lnSpc>
              <a:buNone/>
              <a:defRPr sz="2640">
                <a:solidFill>
                  <a:schemeClr val="tx1">
                    <a:lumMod val="50000"/>
                  </a:schemeClr>
                </a:solidFill>
              </a:defRPr>
            </a:lvl1pPr>
            <a:lvl2pPr marL="505237" indent="-34225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2640">
                <a:solidFill>
                  <a:schemeClr val="tx1">
                    <a:lumMod val="50000"/>
                  </a:schemeClr>
                </a:solidFill>
              </a:defRPr>
            </a:lvl2pPr>
            <a:lvl3pPr marL="1012802" indent="-342258">
              <a:lnSpc>
                <a:spcPct val="100000"/>
              </a:lnSpc>
              <a:tabLst/>
              <a:defRPr sz="2347">
                <a:solidFill>
                  <a:schemeClr val="tx1">
                    <a:lumMod val="50000"/>
                  </a:schemeClr>
                </a:solidFill>
              </a:defRPr>
            </a:lvl3pPr>
            <a:lvl4pPr marL="1520366" indent="-342258">
              <a:lnSpc>
                <a:spcPct val="100000"/>
              </a:lnSpc>
              <a:buFont typeface="System Font Regular"/>
              <a:buChar char="–"/>
              <a:tabLst/>
              <a:defRPr sz="2053">
                <a:solidFill>
                  <a:schemeClr val="tx1">
                    <a:lumMod val="50000"/>
                  </a:schemeClr>
                </a:solidFill>
              </a:defRPr>
            </a:lvl4pPr>
            <a:lvl5pPr marL="2013962" indent="-36786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2053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CEC6D-DBFF-69ED-0986-73EEAA7B774B}"/>
              </a:ext>
            </a:extLst>
          </p:cNvPr>
          <p:cNvSpPr>
            <a:spLocks noGrp="1"/>
          </p:cNvSpPr>
          <p:nvPr userDrawn="1"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7269B-BB66-1242-895A-E957DF8587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9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_Small image_print/low-ink ver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A753-0283-415B-D946-949C8894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79" y="2843225"/>
            <a:ext cx="11973761" cy="3096905"/>
          </a:xfrm>
        </p:spPr>
        <p:txBody>
          <a:bodyPr>
            <a:noAutofit/>
          </a:bodyPr>
          <a:lstStyle>
            <a:lvl1pPr>
              <a:lnSpc>
                <a:spcPts val="8067"/>
              </a:lnSpc>
              <a:defRPr sz="7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D308C-2E42-3E74-4F2C-3C209CB88A62}"/>
              </a:ext>
            </a:extLst>
          </p:cNvPr>
          <p:cNvSpPr/>
          <p:nvPr/>
        </p:nvSpPr>
        <p:spPr>
          <a:xfrm>
            <a:off x="0" y="9073207"/>
            <a:ext cx="17881600" cy="983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48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79452-6CE4-13C2-6222-76E14650A0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39753" y="6746864"/>
            <a:ext cx="6741847" cy="331153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10A67-F49B-1C7C-D507-12AA1F908E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38747" y="2"/>
            <a:ext cx="6742853" cy="6746865"/>
          </a:xfrm>
          <a:custGeom>
            <a:avLst/>
            <a:gdLst>
              <a:gd name="connsiteX0" fmla="*/ 0 w 4597400"/>
              <a:gd name="connsiteY0" fmla="*/ 0 h 4578350"/>
              <a:gd name="connsiteX1" fmla="*/ 4597400 w 4597400"/>
              <a:gd name="connsiteY1" fmla="*/ 0 h 4578350"/>
              <a:gd name="connsiteX2" fmla="*/ 4597400 w 4597400"/>
              <a:gd name="connsiteY2" fmla="*/ 4578350 h 4578350"/>
              <a:gd name="connsiteX3" fmla="*/ 0 w 4597400"/>
              <a:gd name="connsiteY3" fmla="*/ 4578350 h 4578350"/>
              <a:gd name="connsiteX4" fmla="*/ 0 w 4597400"/>
              <a:gd name="connsiteY4" fmla="*/ 0 h 4578350"/>
              <a:gd name="connsiteX0" fmla="*/ 0 w 4597400"/>
              <a:gd name="connsiteY0" fmla="*/ 0 h 4578350"/>
              <a:gd name="connsiteX1" fmla="*/ 4597400 w 4597400"/>
              <a:gd name="connsiteY1" fmla="*/ 0 h 4578350"/>
              <a:gd name="connsiteX2" fmla="*/ 4597400 w 4597400"/>
              <a:gd name="connsiteY2" fmla="*/ 4578350 h 4578350"/>
              <a:gd name="connsiteX3" fmla="*/ 0 w 4597400"/>
              <a:gd name="connsiteY3" fmla="*/ 0 h 457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7400" h="4578350">
                <a:moveTo>
                  <a:pt x="0" y="0"/>
                </a:moveTo>
                <a:lnTo>
                  <a:pt x="4597400" y="0"/>
                </a:lnTo>
                <a:lnTo>
                  <a:pt x="4597400" y="4578350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50970A-89A8-9D3C-F60F-7DE857FA9FF2}"/>
              </a:ext>
            </a:extLst>
          </p:cNvPr>
          <p:cNvGrpSpPr/>
          <p:nvPr/>
        </p:nvGrpSpPr>
        <p:grpSpPr>
          <a:xfrm>
            <a:off x="894082" y="2764393"/>
            <a:ext cx="11973762" cy="3297115"/>
            <a:chOff x="609599" y="2110953"/>
            <a:chExt cx="5608321" cy="2248033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1C54AD-23BB-E3B8-9309-A27E86D7920C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" y="4358986"/>
              <a:ext cx="5608321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A71A58F-828E-0A19-B317-A268DC446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" y="2110953"/>
              <a:ext cx="5608321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ubtitle 2">
            <a:extLst>
              <a:ext uri="{FF2B5EF4-FFF2-40B4-BE49-F238E27FC236}">
                <a16:creationId xmlns:a16="http://schemas.microsoft.com/office/drawing/2014/main" id="{44CB3F0E-3B6A-30FD-227A-31F8D4F0A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082" y="6313998"/>
            <a:ext cx="11973762" cy="10947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4107"/>
              </a:lnSpc>
              <a:buNone/>
              <a:defRPr sz="352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0544" indent="0" algn="ctr">
              <a:buNone/>
              <a:defRPr sz="2933"/>
            </a:lvl2pPr>
            <a:lvl3pPr marL="1341089" indent="0" algn="ctr">
              <a:buNone/>
              <a:defRPr sz="2640"/>
            </a:lvl3pPr>
            <a:lvl4pPr marL="2011633" indent="0" algn="ctr">
              <a:buNone/>
              <a:defRPr sz="2347"/>
            </a:lvl4pPr>
            <a:lvl5pPr marL="2682178" indent="0" algn="ctr">
              <a:buNone/>
              <a:defRPr sz="2347"/>
            </a:lvl5pPr>
            <a:lvl6pPr marL="3352722" indent="0" algn="ctr">
              <a:buNone/>
              <a:defRPr sz="2347"/>
            </a:lvl6pPr>
            <a:lvl7pPr marL="4023266" indent="0" algn="ctr">
              <a:buNone/>
              <a:defRPr sz="2347"/>
            </a:lvl7pPr>
            <a:lvl8pPr marL="4693811" indent="0" algn="ctr">
              <a:buNone/>
              <a:defRPr sz="2347"/>
            </a:lvl8pPr>
            <a:lvl9pPr marL="5364355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EB4049A-A399-BC1D-92C6-7CE4EEC488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4079" y="7716296"/>
            <a:ext cx="11973761" cy="67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47">
                <a:solidFill>
                  <a:schemeClr val="tx2"/>
                </a:solidFill>
              </a:defRPr>
            </a:lvl1pPr>
            <a:lvl2pPr marL="670544" indent="0">
              <a:buNone/>
              <a:defRPr>
                <a:solidFill>
                  <a:schemeClr val="bg1"/>
                </a:solidFill>
              </a:defRPr>
            </a:lvl2pPr>
            <a:lvl3pPr marL="1341089" indent="0">
              <a:buNone/>
              <a:defRPr>
                <a:solidFill>
                  <a:schemeClr val="bg1"/>
                </a:solidFill>
              </a:defRPr>
            </a:lvl3pPr>
            <a:lvl4pPr marL="2011633" indent="0">
              <a:buNone/>
              <a:defRPr>
                <a:solidFill>
                  <a:schemeClr val="bg1"/>
                </a:solidFill>
              </a:defRPr>
            </a:lvl4pPr>
            <a:lvl5pPr marL="268217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2827C3-37AD-001A-1979-4400B1354D5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841" y="8844911"/>
            <a:ext cx="2346960" cy="44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1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Arrow Down_sam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85A05-79A3-4A58-2D90-0FAAFA88B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202" r="26184"/>
          <a:stretch/>
        </p:blipFill>
        <p:spPr>
          <a:xfrm>
            <a:off x="3813159" y="2"/>
            <a:ext cx="14068443" cy="100584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A80255-A299-71C4-C7B8-7DC68E8B4690}"/>
              </a:ext>
            </a:extLst>
          </p:cNvPr>
          <p:cNvSpPr/>
          <p:nvPr/>
        </p:nvSpPr>
        <p:spPr>
          <a:xfrm>
            <a:off x="4917441" y="0"/>
            <a:ext cx="7487927" cy="10058400"/>
          </a:xfrm>
          <a:prstGeom prst="rect">
            <a:avLst/>
          </a:prstGeom>
          <a:gradFill>
            <a:gsLst>
              <a:gs pos="61000">
                <a:srgbClr val="FFFFFF">
                  <a:alpha val="74000"/>
                </a:srgbClr>
              </a:gs>
              <a:gs pos="2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48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49423D38-F622-A28D-A8BC-E964C0CAFF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78"/>
          <a:stretch/>
        </p:blipFill>
        <p:spPr>
          <a:xfrm>
            <a:off x="1" y="0"/>
            <a:ext cx="11934927" cy="1005840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47F21E0F-0563-3965-BE2B-306AFD22F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082" y="6313621"/>
            <a:ext cx="8225537" cy="10947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4107"/>
              </a:lnSpc>
              <a:buNone/>
              <a:defRPr sz="352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0544" indent="0" algn="ctr">
              <a:buNone/>
              <a:defRPr sz="2933"/>
            </a:lvl2pPr>
            <a:lvl3pPr marL="1341089" indent="0" algn="ctr">
              <a:buNone/>
              <a:defRPr sz="2640"/>
            </a:lvl3pPr>
            <a:lvl4pPr marL="2011633" indent="0" algn="ctr">
              <a:buNone/>
              <a:defRPr sz="2347"/>
            </a:lvl4pPr>
            <a:lvl5pPr marL="2682178" indent="0" algn="ctr">
              <a:buNone/>
              <a:defRPr sz="2347"/>
            </a:lvl5pPr>
            <a:lvl6pPr marL="3352722" indent="0" algn="ctr">
              <a:buNone/>
              <a:defRPr sz="2347"/>
            </a:lvl6pPr>
            <a:lvl7pPr marL="4023266" indent="0" algn="ctr">
              <a:buNone/>
              <a:defRPr sz="2347"/>
            </a:lvl7pPr>
            <a:lvl8pPr marL="4693811" indent="0" algn="ctr">
              <a:buNone/>
              <a:defRPr sz="2347"/>
            </a:lvl8pPr>
            <a:lvl9pPr marL="5364355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9F69A5-B27D-FBAB-0CB9-409F481F7C77}"/>
              </a:ext>
            </a:extLst>
          </p:cNvPr>
          <p:cNvCxnSpPr>
            <a:cxnSpLocks/>
          </p:cNvCxnSpPr>
          <p:nvPr/>
        </p:nvCxnSpPr>
        <p:spPr>
          <a:xfrm>
            <a:off x="894082" y="6085297"/>
            <a:ext cx="822553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905EF7B-7E23-A2CB-4A96-2DA393B22F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4079" y="7698725"/>
            <a:ext cx="8225535" cy="67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347">
                <a:solidFill>
                  <a:schemeClr val="bg1"/>
                </a:solidFill>
              </a:defRPr>
            </a:lvl1pPr>
            <a:lvl2pPr marL="670544" indent="0">
              <a:buNone/>
              <a:defRPr>
                <a:solidFill>
                  <a:schemeClr val="bg1"/>
                </a:solidFill>
              </a:defRPr>
            </a:lvl2pPr>
            <a:lvl3pPr marL="1341089" indent="0">
              <a:buNone/>
              <a:defRPr>
                <a:solidFill>
                  <a:schemeClr val="bg1"/>
                </a:solidFill>
              </a:defRPr>
            </a:lvl3pPr>
            <a:lvl4pPr marL="2011633" indent="0">
              <a:buNone/>
              <a:defRPr>
                <a:solidFill>
                  <a:schemeClr val="bg1"/>
                </a:solidFill>
              </a:defRPr>
            </a:lvl4pPr>
            <a:lvl5pPr marL="268217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59E191-6DC7-C36F-58C2-09D7DF71DE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841" y="8843980"/>
            <a:ext cx="2346960" cy="448903"/>
          </a:xfrm>
          <a:prstGeom prst="rect">
            <a:avLst/>
          </a:prstGeom>
        </p:spPr>
      </p:pic>
      <p:sp>
        <p:nvSpPr>
          <p:cNvPr id="8" name="Title 11">
            <a:extLst>
              <a:ext uri="{FF2B5EF4-FFF2-40B4-BE49-F238E27FC236}">
                <a16:creationId xmlns:a16="http://schemas.microsoft.com/office/drawing/2014/main" id="{EDE0C7B7-5202-3285-D76F-D6484CA5C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1790660"/>
            <a:ext cx="8225533" cy="4023361"/>
          </a:xfrm>
        </p:spPr>
        <p:txBody>
          <a:bodyPr anchor="b">
            <a:noAutofit/>
          </a:bodyPr>
          <a:lstStyle>
            <a:lvl1pPr>
              <a:lnSpc>
                <a:spcPts val="8067"/>
              </a:lnSpc>
              <a:defRPr sz="7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014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ontent Slide_op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4975325-ADF2-B44E-CB6C-2BBE7E287C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908" y="535518"/>
            <a:ext cx="16590262" cy="1209912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>
              <a:defRPr sz="58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3B0C4B5-3D33-12B3-FE4C-021950C407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71959" y="9396469"/>
            <a:ext cx="1938214" cy="349118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760" b="1" i="0" cap="all" baseline="0">
                <a:solidFill>
                  <a:schemeClr val="bg1"/>
                </a:solidFill>
              </a:defRPr>
            </a:lvl1pPr>
            <a:lvl2pPr marL="670544" indent="0">
              <a:buNone/>
              <a:defRPr/>
            </a:lvl2pPr>
            <a:lvl3pPr marL="1341089" indent="0">
              <a:buNone/>
              <a:defRPr/>
            </a:lvl3pPr>
            <a:lvl4pPr marL="2011633" indent="0">
              <a:buNone/>
              <a:defRPr/>
            </a:lvl4pPr>
            <a:lvl5pPr marL="2682178" indent="0">
              <a:buNone/>
              <a:defRPr/>
            </a:lvl5pPr>
          </a:lstStyle>
          <a:p>
            <a:pPr lvl="0"/>
            <a:r>
              <a:rPr lang="en-US"/>
              <a:t>CONFIDENTIAL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4D0A5F2-DC8F-8775-D432-5D843C7E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908" y="1795149"/>
            <a:ext cx="16590262" cy="696671"/>
          </a:xfrm>
          <a:prstGeom prst="rect">
            <a:avLst/>
          </a:prstGeom>
        </p:spPr>
        <p:txBody>
          <a:bodyPr lIns="45720" rIns="45720">
            <a:normAutofit/>
          </a:bodyPr>
          <a:lstStyle>
            <a:lvl1pPr marL="0" indent="0">
              <a:lnSpc>
                <a:spcPct val="100000"/>
              </a:lnSpc>
              <a:buNone/>
              <a:defRPr sz="2933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AD9422-E45E-DC73-D504-4D440D676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08" y="2491818"/>
            <a:ext cx="16590262" cy="6381962"/>
          </a:xfrm>
          <a:prstGeom prst="rect">
            <a:avLst/>
          </a:prstGeom>
        </p:spPr>
        <p:txBody>
          <a:bodyPr lIns="45720" rIns="45720" numCol="1" spcCol="0">
            <a:normAutofit/>
          </a:bodyPr>
          <a:lstStyle>
            <a:lvl1pPr marL="0" indent="0">
              <a:lnSpc>
                <a:spcPct val="100000"/>
              </a:lnSpc>
              <a:buNone/>
              <a:defRPr sz="2640">
                <a:solidFill>
                  <a:schemeClr val="tx1">
                    <a:lumMod val="50000"/>
                  </a:schemeClr>
                </a:solidFill>
              </a:defRPr>
            </a:lvl1pPr>
            <a:lvl2pPr marL="505237" indent="-34225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2640">
                <a:solidFill>
                  <a:schemeClr val="tx1">
                    <a:lumMod val="50000"/>
                  </a:schemeClr>
                </a:solidFill>
              </a:defRPr>
            </a:lvl2pPr>
            <a:lvl3pPr marL="1012802" indent="-342258">
              <a:lnSpc>
                <a:spcPct val="100000"/>
              </a:lnSpc>
              <a:tabLst/>
              <a:defRPr sz="2347">
                <a:solidFill>
                  <a:schemeClr val="tx1">
                    <a:lumMod val="50000"/>
                  </a:schemeClr>
                </a:solidFill>
              </a:defRPr>
            </a:lvl3pPr>
            <a:lvl4pPr marL="1520366" indent="-342258">
              <a:lnSpc>
                <a:spcPct val="100000"/>
              </a:lnSpc>
              <a:buFont typeface="System Font Regular"/>
              <a:buChar char="–"/>
              <a:tabLst/>
              <a:defRPr sz="2053">
                <a:solidFill>
                  <a:schemeClr val="tx1">
                    <a:lumMod val="50000"/>
                  </a:schemeClr>
                </a:solidFill>
              </a:defRPr>
            </a:lvl4pPr>
            <a:lvl5pPr marL="2013962" indent="-36786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2053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D4897A-7CBE-CA1E-906E-044898705B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7269B-BB66-1242-895A-E957DF8587C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2C3000-C2B6-5A37-493A-A180764260EE}"/>
              </a:ext>
            </a:extLst>
          </p:cNvPr>
          <p:cNvGrpSpPr/>
          <p:nvPr/>
        </p:nvGrpSpPr>
        <p:grpSpPr>
          <a:xfrm>
            <a:off x="17233200" y="9080834"/>
            <a:ext cx="651298" cy="977566"/>
            <a:chOff x="7620002" y="-5"/>
            <a:chExt cx="4572004" cy="6862347"/>
          </a:xfrm>
        </p:grpSpPr>
        <p:sp>
          <p:nvSpPr>
            <p:cNvPr id="14" name="Triangle 14">
              <a:extLst>
                <a:ext uri="{FF2B5EF4-FFF2-40B4-BE49-F238E27FC236}">
                  <a16:creationId xmlns:a16="http://schemas.microsoft.com/office/drawing/2014/main" id="{8043E466-C74D-1373-8125-7E81F659B1EA}"/>
                </a:ext>
              </a:extLst>
            </p:cNvPr>
            <p:cNvSpPr/>
            <p:nvPr userDrawn="1"/>
          </p:nvSpPr>
          <p:spPr>
            <a:xfrm rot="16200000">
              <a:off x="7606513" y="13484"/>
              <a:ext cx="4598978" cy="4571999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48">
                <a:solidFill>
                  <a:srgbClr val="EFEFEF"/>
                </a:solidFill>
              </a:endParaRPr>
            </a:p>
          </p:txBody>
        </p:sp>
        <p:sp>
          <p:nvSpPr>
            <p:cNvPr id="15" name="Triangle 17">
              <a:extLst>
                <a:ext uri="{FF2B5EF4-FFF2-40B4-BE49-F238E27FC236}">
                  <a16:creationId xmlns:a16="http://schemas.microsoft.com/office/drawing/2014/main" id="{555F18F8-A952-60AD-B104-B177F82A0EF1}"/>
                </a:ext>
              </a:extLst>
            </p:cNvPr>
            <p:cNvSpPr/>
            <p:nvPr userDrawn="1"/>
          </p:nvSpPr>
          <p:spPr>
            <a:xfrm rot="5400000" flipV="1">
              <a:off x="9930946" y="4601283"/>
              <a:ext cx="2267711" cy="2254408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48">
                <a:solidFill>
                  <a:srgbClr val="EFEFEF"/>
                </a:solidFill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DB3B8EC-C6A8-B3D0-451A-7431F9F2AB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017"/>
          <a:stretch/>
        </p:blipFill>
        <p:spPr>
          <a:xfrm>
            <a:off x="10476289" y="9192261"/>
            <a:ext cx="7279727" cy="72672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EF364E-F3B4-62BF-7FBD-995EDC5D9A51}"/>
              </a:ext>
            </a:extLst>
          </p:cNvPr>
          <p:cNvGrpSpPr/>
          <p:nvPr/>
        </p:nvGrpSpPr>
        <p:grpSpPr>
          <a:xfrm>
            <a:off x="17233200" y="8878424"/>
            <a:ext cx="651298" cy="1179979"/>
            <a:chOff x="11749907" y="6053469"/>
            <a:chExt cx="444067" cy="80453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FDBFBF-3F1E-FB4F-5F79-9A126AADD32C}"/>
                </a:ext>
              </a:extLst>
            </p:cNvPr>
            <p:cNvGrpSpPr/>
            <p:nvPr userDrawn="1"/>
          </p:nvGrpSpPr>
          <p:grpSpPr>
            <a:xfrm>
              <a:off x="11749907" y="6191478"/>
              <a:ext cx="444067" cy="666522"/>
              <a:chOff x="7620002" y="-5"/>
              <a:chExt cx="4572004" cy="6862347"/>
            </a:xfrm>
          </p:grpSpPr>
          <p:sp>
            <p:nvSpPr>
              <p:cNvPr id="22" name="Triangle 14">
                <a:extLst>
                  <a:ext uri="{FF2B5EF4-FFF2-40B4-BE49-F238E27FC236}">
                    <a16:creationId xmlns:a16="http://schemas.microsoft.com/office/drawing/2014/main" id="{C8D170FC-E0C8-249D-F02C-2B61807E2844}"/>
                  </a:ext>
                </a:extLst>
              </p:cNvPr>
              <p:cNvSpPr/>
              <p:nvPr userDrawn="1"/>
            </p:nvSpPr>
            <p:spPr>
              <a:xfrm rot="16200000">
                <a:off x="7606513" y="13484"/>
                <a:ext cx="4598978" cy="4571999"/>
              </a:xfrm>
              <a:prstGeom prst="triangle">
                <a:avLst>
                  <a:gd name="adj" fmla="val 10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548">
                  <a:solidFill>
                    <a:srgbClr val="EFEFEF"/>
                  </a:solidFill>
                </a:endParaRPr>
              </a:p>
            </p:txBody>
          </p:sp>
          <p:sp>
            <p:nvSpPr>
              <p:cNvPr id="23" name="Triangle 17">
                <a:extLst>
                  <a:ext uri="{FF2B5EF4-FFF2-40B4-BE49-F238E27FC236}">
                    <a16:creationId xmlns:a16="http://schemas.microsoft.com/office/drawing/2014/main" id="{4155B2C8-6597-8AFF-458A-DC8021DA3A99}"/>
                  </a:ext>
                </a:extLst>
              </p:cNvPr>
              <p:cNvSpPr/>
              <p:nvPr userDrawn="1"/>
            </p:nvSpPr>
            <p:spPr>
              <a:xfrm rot="5400000" flipV="1">
                <a:off x="9930946" y="4601283"/>
                <a:ext cx="2267711" cy="2254408"/>
              </a:xfrm>
              <a:prstGeom prst="triangle">
                <a:avLst>
                  <a:gd name="adj" fmla="val 10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548">
                  <a:solidFill>
                    <a:srgbClr val="EFEFEF"/>
                  </a:solidFill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5245CE-8B83-5272-0E4A-A6F4D1296177}"/>
                </a:ext>
              </a:extLst>
            </p:cNvPr>
            <p:cNvSpPr/>
            <p:nvPr userDrawn="1"/>
          </p:nvSpPr>
          <p:spPr>
            <a:xfrm>
              <a:off x="11759610" y="6053469"/>
              <a:ext cx="411126" cy="141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48"/>
            </a:p>
          </p:txBody>
        </p:sp>
      </p:grpSp>
    </p:spTree>
    <p:extLst>
      <p:ext uri="{BB962C8B-B14F-4D97-AF65-F5344CB8AC3E}">
        <p14:creationId xmlns:p14="http://schemas.microsoft.com/office/powerpoint/2010/main" val="198085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Slide_2 columns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FE972129-CC0A-36A1-8689-AB359DFF023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5670539" y="9363829"/>
            <a:ext cx="1810512" cy="535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367269B-BB66-1242-895A-E957DF8587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CFBFFE4-5B21-0B82-C53B-6CCFBAAC05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908" y="1795149"/>
            <a:ext cx="16590262" cy="696671"/>
          </a:xfrm>
          <a:prstGeom prst="rect">
            <a:avLst/>
          </a:prstGeom>
        </p:spPr>
        <p:txBody>
          <a:bodyPr lIns="45720" rIns="45720">
            <a:noAutofit/>
          </a:bodyPr>
          <a:lstStyle>
            <a:lvl1pPr marL="0" indent="0">
              <a:lnSpc>
                <a:spcPct val="100000"/>
              </a:lnSpc>
              <a:buNone/>
              <a:defRPr sz="2933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4975325-ADF2-B44E-CB6C-2BBE7E287C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908" y="535518"/>
            <a:ext cx="16590262" cy="1209912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58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A184EAA-7954-621F-DEC6-0A5B4DF983D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36911" y="2551688"/>
            <a:ext cx="4931132" cy="6381962"/>
          </a:xfrm>
          <a:prstGeom prst="rect">
            <a:avLst/>
          </a:prstGeom>
        </p:spPr>
        <p:txBody>
          <a:bodyPr lIns="45720" rIns="45720" numCol="1" spcCol="0">
            <a:noAutofit/>
          </a:bodyPr>
          <a:lstStyle>
            <a:lvl1pPr marL="0" indent="0">
              <a:lnSpc>
                <a:spcPct val="100000"/>
              </a:lnSpc>
              <a:buNone/>
              <a:defRPr sz="2640">
                <a:solidFill>
                  <a:schemeClr val="tx1"/>
                </a:solidFill>
              </a:defRPr>
            </a:lvl1pPr>
            <a:lvl2pPr marL="505237" indent="-342258">
              <a:lnSpc>
                <a:spcPct val="100000"/>
              </a:lnSpc>
              <a:buFont typeface="Wingdings" pitchFamily="2" charset="2"/>
              <a:buChar char="§"/>
              <a:tabLst/>
              <a:defRPr sz="2640">
                <a:solidFill>
                  <a:schemeClr val="tx1"/>
                </a:solidFill>
              </a:defRPr>
            </a:lvl2pPr>
            <a:lvl3pPr marL="1012802" indent="-342258">
              <a:lnSpc>
                <a:spcPct val="100000"/>
              </a:lnSpc>
              <a:buSzPct val="110000"/>
              <a:buFont typeface="Arial" panose="020B0604020202020204" pitchFamily="34" charset="0"/>
              <a:buChar char="•"/>
              <a:tabLst/>
              <a:defRPr sz="2347">
                <a:solidFill>
                  <a:schemeClr val="tx1"/>
                </a:solidFill>
              </a:defRPr>
            </a:lvl3pPr>
            <a:lvl4pPr marL="1520366" indent="-342258">
              <a:lnSpc>
                <a:spcPct val="100000"/>
              </a:lnSpc>
              <a:buFont typeface="System Font Regular"/>
              <a:buChar char="–"/>
              <a:tabLst/>
              <a:defRPr sz="2053">
                <a:solidFill>
                  <a:schemeClr val="tx1"/>
                </a:solidFill>
              </a:defRPr>
            </a:lvl4pPr>
            <a:lvl5pPr marL="2013962" indent="-367868">
              <a:lnSpc>
                <a:spcPct val="100000"/>
              </a:lnSpc>
              <a:buSzPct val="90000"/>
              <a:buFont typeface="Wingdings" pitchFamily="2" charset="2"/>
              <a:buChar char="§"/>
              <a:tabLst/>
              <a:defRPr sz="205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7B2AC-E120-54A7-1A8D-3BA85E27CB9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888255" y="2551688"/>
            <a:ext cx="11338916" cy="6381962"/>
          </a:xfrm>
          <a:prstGeom prst="rect">
            <a:avLst/>
          </a:prstGeom>
        </p:spPr>
        <p:txBody>
          <a:bodyPr lIns="45720" rIns="45720" numCol="1" spcCol="0">
            <a:noAutofit/>
          </a:bodyPr>
          <a:lstStyle>
            <a:lvl1pPr marL="0" indent="0">
              <a:lnSpc>
                <a:spcPct val="100000"/>
              </a:lnSpc>
              <a:buNone/>
              <a:defRPr sz="2640">
                <a:solidFill>
                  <a:schemeClr val="tx1"/>
                </a:solidFill>
              </a:defRPr>
            </a:lvl1pPr>
            <a:lvl2pPr marL="505237" indent="-342258">
              <a:lnSpc>
                <a:spcPct val="100000"/>
              </a:lnSpc>
              <a:buFont typeface="Wingdings" pitchFamily="2" charset="2"/>
              <a:buChar char="§"/>
              <a:tabLst/>
              <a:defRPr sz="2640">
                <a:solidFill>
                  <a:schemeClr val="tx1"/>
                </a:solidFill>
              </a:defRPr>
            </a:lvl2pPr>
            <a:lvl3pPr marL="1012802" indent="-342258">
              <a:lnSpc>
                <a:spcPct val="100000"/>
              </a:lnSpc>
              <a:buSzPct val="110000"/>
              <a:buFont typeface="Arial" panose="020B0604020202020204" pitchFamily="34" charset="0"/>
              <a:buChar char="•"/>
              <a:tabLst/>
              <a:defRPr sz="2347">
                <a:solidFill>
                  <a:schemeClr val="tx1"/>
                </a:solidFill>
              </a:defRPr>
            </a:lvl3pPr>
            <a:lvl4pPr marL="1520366" indent="-342258">
              <a:lnSpc>
                <a:spcPct val="100000"/>
              </a:lnSpc>
              <a:buFont typeface="System Font Regular"/>
              <a:buChar char="–"/>
              <a:tabLst/>
              <a:defRPr sz="2053">
                <a:solidFill>
                  <a:schemeClr val="tx1"/>
                </a:solidFill>
              </a:defRPr>
            </a:lvl4pPr>
            <a:lvl5pPr marL="2013962" indent="-367868">
              <a:lnSpc>
                <a:spcPct val="100000"/>
              </a:lnSpc>
              <a:buSzPct val="90000"/>
              <a:buFont typeface="Wingdings" pitchFamily="2" charset="2"/>
              <a:buChar char="§"/>
              <a:tabLst/>
              <a:defRPr sz="205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330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line headline, subhead, 1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2A94F-5D58-1341-B868-65E33C933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66" y="335280"/>
            <a:ext cx="16379414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B702A-971F-8648-AA81-00AC4A0D4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B25826-8856-D140-B4BC-AEFCAD937C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866" y="1341122"/>
            <a:ext cx="16372841" cy="535517"/>
          </a:xfrm>
        </p:spPr>
        <p:txBody>
          <a:bodyPr>
            <a:normAutofit/>
          </a:bodyPr>
          <a:lstStyle>
            <a:lvl1pPr marL="0" indent="0">
              <a:buNone/>
              <a:defRPr sz="2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B203364-0184-4648-B58F-89CF6D83A9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868" y="2235200"/>
            <a:ext cx="16375076" cy="681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382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5CD72-C19C-B840-896F-24BD9CFAC9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8561" y="4483854"/>
            <a:ext cx="5699760" cy="10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1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E5B49-8F30-5E4E-94DD-459C8BCBA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67" y="552935"/>
            <a:ext cx="16441867" cy="120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9ED4E-ADA7-744F-BED8-6BB63C07B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867" y="2677584"/>
            <a:ext cx="16441867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FF625B-A2F0-6944-AC6C-4977C251C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670539" y="9363829"/>
            <a:ext cx="1810512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53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67269B-BB66-1242-895A-E957DF8587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D6469-FAFA-00B5-3572-3E0DB963C1C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9867" y="9396469"/>
            <a:ext cx="1810512" cy="34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2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</p:sldLayoutIdLst>
  <p:hf hdr="0" ftr="0"/>
  <p:txStyles>
    <p:titleStyle>
      <a:lvl1pPr algn="l" defTabSz="1341089" rtl="0" eaLnBrk="1" latinLnBrk="0" hangingPunct="1">
        <a:lnSpc>
          <a:spcPct val="90000"/>
        </a:lnSpc>
        <a:spcBef>
          <a:spcPct val="0"/>
        </a:spcBef>
        <a:buNone/>
        <a:defRPr sz="6600" b="0" i="0" kern="1200" cap="none" baseline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35272" indent="-335272" algn="l" defTabSz="1341089" rtl="0" eaLnBrk="1" latinLnBrk="0" hangingPunct="1">
        <a:lnSpc>
          <a:spcPct val="90000"/>
        </a:lnSpc>
        <a:spcBef>
          <a:spcPts val="1467"/>
        </a:spcBef>
        <a:buClr>
          <a:schemeClr val="tx2"/>
        </a:buClr>
        <a:buFont typeface="Wingdings" pitchFamily="2" charset="2"/>
        <a:buChar char="§"/>
        <a:defRPr sz="264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5817" indent="-335272" algn="l" defTabSz="1341089" rtl="0" eaLnBrk="1" latinLnBrk="0" hangingPunct="1">
        <a:lnSpc>
          <a:spcPct val="90000"/>
        </a:lnSpc>
        <a:spcBef>
          <a:spcPts val="734"/>
        </a:spcBef>
        <a:buClr>
          <a:schemeClr val="tx2"/>
        </a:buClr>
        <a:buFont typeface="Wingdings" pitchFamily="2" charset="2"/>
        <a:buChar char="§"/>
        <a:defRPr sz="2347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676361" indent="-335272" algn="l" defTabSz="1341089" rtl="0" eaLnBrk="1" latinLnBrk="0" hangingPunct="1">
        <a:lnSpc>
          <a:spcPct val="90000"/>
        </a:lnSpc>
        <a:spcBef>
          <a:spcPts val="734"/>
        </a:spcBef>
        <a:buClr>
          <a:schemeClr val="tx2"/>
        </a:buClr>
        <a:buFont typeface="Wingdings" pitchFamily="2" charset="2"/>
        <a:buChar char="§"/>
        <a:defRPr sz="2053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346905" indent="-335272" algn="l" defTabSz="1341089" rtl="0" eaLnBrk="1" latinLnBrk="0" hangingPunct="1">
        <a:lnSpc>
          <a:spcPct val="90000"/>
        </a:lnSpc>
        <a:spcBef>
          <a:spcPts val="734"/>
        </a:spcBef>
        <a:buClr>
          <a:schemeClr val="tx2"/>
        </a:buClr>
        <a:buFont typeface="Wingdings" pitchFamily="2" charset="2"/>
        <a:buChar char="§"/>
        <a:defRPr sz="176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017450" indent="-335272" algn="l" defTabSz="1341089" rtl="0" eaLnBrk="1" latinLnBrk="0" hangingPunct="1">
        <a:lnSpc>
          <a:spcPct val="90000"/>
        </a:lnSpc>
        <a:spcBef>
          <a:spcPts val="734"/>
        </a:spcBef>
        <a:buClr>
          <a:schemeClr val="tx2"/>
        </a:buClr>
        <a:buFont typeface="Wingdings" pitchFamily="2" charset="2"/>
        <a:buChar char="§"/>
        <a:defRPr sz="176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687994" indent="-335272" algn="l" defTabSz="1341089" rtl="0" eaLnBrk="1" latinLnBrk="0" hangingPunct="1">
        <a:lnSpc>
          <a:spcPct val="90000"/>
        </a:lnSpc>
        <a:spcBef>
          <a:spcPts val="734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358538" indent="-335272" algn="l" defTabSz="1341089" rtl="0" eaLnBrk="1" latinLnBrk="0" hangingPunct="1">
        <a:lnSpc>
          <a:spcPct val="90000"/>
        </a:lnSpc>
        <a:spcBef>
          <a:spcPts val="734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5029083" indent="-335272" algn="l" defTabSz="1341089" rtl="0" eaLnBrk="1" latinLnBrk="0" hangingPunct="1">
        <a:lnSpc>
          <a:spcPct val="90000"/>
        </a:lnSpc>
        <a:spcBef>
          <a:spcPts val="734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699627" indent="-335272" algn="l" defTabSz="1341089" rtl="0" eaLnBrk="1" latinLnBrk="0" hangingPunct="1">
        <a:lnSpc>
          <a:spcPct val="90000"/>
        </a:lnSpc>
        <a:spcBef>
          <a:spcPts val="734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44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089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633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178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22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266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3811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355" algn="l" defTabSz="1341089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563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10772" userDrawn="1">
          <p15:clr>
            <a:srgbClr val="F26B43"/>
          </p15:clr>
        </p15:guide>
        <p15:guide id="5" orient="horz" pos="11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mol.go.th/en/news/starting-july-1-ministry-of-labour-revises-minimum-wage-to-align-with-economy-and-improve-workers-quality-of-life" TargetMode="External"/><Relationship Id="rId18" Type="http://schemas.openxmlformats.org/officeDocument/2006/relationships/hyperlink" Target="https://www.pna.gov.ph/articles/1247921" TargetMode="External"/><Relationship Id="rId26" Type="http://schemas.openxmlformats.org/officeDocument/2006/relationships/hyperlink" Target="https://www.watercare.co.nz/landlords-and-property-managers/accounts/our-charges" TargetMode="External"/><Relationship Id="rId3" Type="http://schemas.openxmlformats.org/officeDocument/2006/relationships/hyperlink" Target="https://www.spgroup.com.sg/our-services/utilities/tariff-information" TargetMode="External"/><Relationship Id="rId21" Type="http://schemas.openxmlformats.org/officeDocument/2006/relationships/hyperlink" Target="https://www.energyaustralia.com.au/sites/default/files/2025-10/EA%20Updated%20CI%20Default%20Electricity%20Rates%201%20October%202025.pdf" TargetMode="External"/><Relationship Id="rId34" Type="http://schemas.openxmlformats.org/officeDocument/2006/relationships/hyperlink" Target="https://alphabiz.co.kr/news/view/1065556696594253" TargetMode="External"/><Relationship Id="rId7" Type="http://schemas.openxmlformats.org/officeDocument/2006/relationships/hyperlink" Target="https://www.ajobthing.com/resources/blog/latest-minimum-hourly-wage-malaysia" TargetMode="External"/><Relationship Id="rId12" Type="http://schemas.openxmlformats.org/officeDocument/2006/relationships/hyperlink" Target="https://www.erc.or.th/th/electricity-service-rate" TargetMode="External"/><Relationship Id="rId17" Type="http://schemas.openxmlformats.org/officeDocument/2006/relationships/hyperlink" Target="https://www.abs-cbn.com/news/business/2024/12/12/manila-water-maynilad-rates-to-rise-jan-1-as-mwss-adjusts-tariff-rates-1609" TargetMode="External"/><Relationship Id="rId25" Type="http://schemas.openxmlformats.org/officeDocument/2006/relationships/hyperlink" Target="https://www.employment.gov.fj/uploads/form/LN_44_-_54_Employment_Relations_%28Minimum_Wages%29_%28Amendment%29_Regulations____.pdf" TargetMode="External"/><Relationship Id="rId33" Type="http://schemas.openxmlformats.org/officeDocument/2006/relationships/hyperlink" Target="https://home.kepco.co.kr/kepco/front/html/CY/D/C/CYDCHP00401.html" TargetMode="External"/><Relationship Id="rId2" Type="http://schemas.openxmlformats.org/officeDocument/2006/relationships/hyperlink" Target="https://www.pub.gov.sg/Public/WaterLoop/Water-Price" TargetMode="External"/><Relationship Id="rId16" Type="http://schemas.openxmlformats.org/officeDocument/2006/relationships/hyperlink" Target="https://english.molisa.gov.vn/topic/231500" TargetMode="External"/><Relationship Id="rId20" Type="http://schemas.openxmlformats.org/officeDocument/2006/relationships/hyperlink" Target="https://www.sydneywater.com.au/accounts-billing/paying-your-bill/our-prices/business-pricing.html" TargetMode="External"/><Relationship Id="rId29" Type="http://schemas.openxmlformats.org/officeDocument/2006/relationships/hyperlink" Target="https://www.waterworks.metro.tokyo.lg.jp/tetsuduki/ryokin/keisan_tama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efsrevision.com/new-electricity-tariffs-for-businesses-in-malaysia-why-nows-the-time-to-go-solar/" TargetMode="External"/><Relationship Id="rId11" Type="http://schemas.openxmlformats.org/officeDocument/2006/relationships/hyperlink" Target="https://en.pwa.co.th/contents/service/table-price" TargetMode="External"/><Relationship Id="rId24" Type="http://schemas.openxmlformats.org/officeDocument/2006/relationships/hyperlink" Target="https://www.fccc.gov.fj/wp-content/uploads/2023/09/Non-Confidential-Version-of-Energy-Fiji-Ltd-Submission_Electricity-Tariff-Increase-Final_v1.pdf" TargetMode="External"/><Relationship Id="rId32" Type="http://schemas.openxmlformats.org/officeDocument/2006/relationships/hyperlink" Target="https://legal.seoul.go.kr/legal/english/front/page/docu.html?pAct=docuView&amp;pDocuNo=1538&amp;type=en" TargetMode="External"/><Relationship Id="rId5" Type="http://schemas.openxmlformats.org/officeDocument/2006/relationships/hyperlink" Target="https://content.airselangor.com/cmi-prod-blobstorageanon-001-sea/media/0t0p130p/mb-water-tariff-review-202508.pdf" TargetMode="External"/><Relationship Id="rId15" Type="http://schemas.openxmlformats.org/officeDocument/2006/relationships/hyperlink" Target="https://www.evnhcmc.vn/Tracuu/giabandien" TargetMode="External"/><Relationship Id="rId23" Type="http://schemas.openxmlformats.org/officeDocument/2006/relationships/hyperlink" Target="https://fijionenews.com.fj/water-tariff-review-by-fccc-says-abraham/" TargetMode="External"/><Relationship Id="rId28" Type="http://schemas.openxmlformats.org/officeDocument/2006/relationships/hyperlink" Target="https://www.mbie.govt.nz/about/news/minimum-wage-set-for-2025" TargetMode="External"/><Relationship Id="rId10" Type="http://schemas.openxmlformats.org/officeDocument/2006/relationships/hyperlink" Target="https://satudata.kemnaker.go.id/infografik/88" TargetMode="External"/><Relationship Id="rId19" Type="http://schemas.openxmlformats.org/officeDocument/2006/relationships/hyperlink" Target="https://www.pna.gov.ph/articles/1254675" TargetMode="External"/><Relationship Id="rId31" Type="http://schemas.openxmlformats.org/officeDocument/2006/relationships/hyperlink" Target="https://joyn.tokyo/about-japan/society/minimum-wage-in-japan-2025" TargetMode="External"/><Relationship Id="rId4" Type="http://schemas.openxmlformats.org/officeDocument/2006/relationships/hyperlink" Target="https://www.straitstimes.com/singapore/politics/salaries-of-lower-wage-workers-rise-faster-than-median-worker-amid-progressive-wage-moves" TargetMode="External"/><Relationship Id="rId9" Type="http://schemas.openxmlformats.org/officeDocument/2006/relationships/hyperlink" Target="https://web.pln.co.id/statics/uploads/2025/09/TW-4-2025.jpeg" TargetMode="External"/><Relationship Id="rId14" Type="http://schemas.openxmlformats.org/officeDocument/2006/relationships/hyperlink" Target="https://benthanh.sawaco.com.vn/dich-vu-khach-hang/khach-hang-can-biet/don-gia-nuoc-sach-dich-vu-thoat-nuoc-va-xu-ly-nuoc-thai-tu-ngay-01072025-den-31122025.html" TargetMode="External"/><Relationship Id="rId22" Type="http://schemas.openxmlformats.org/officeDocument/2006/relationships/hyperlink" Target="https://www.fairwork.gov.au/pay-and-wages/minimum-wages" TargetMode="External"/><Relationship Id="rId27" Type="http://schemas.openxmlformats.org/officeDocument/2006/relationships/hyperlink" Target="https://www.powershop.co.nz/public/Ratecards/2025/26-Nelson-City.pdf" TargetMode="External"/><Relationship Id="rId30" Type="http://schemas.openxmlformats.org/officeDocument/2006/relationships/hyperlink" Target="https://www.tepco.co.jp/en/ep/about/newsroom/press/archives/2023/pdf/230927e0202.pdf" TargetMode="External"/><Relationship Id="rId8" Type="http://schemas.openxmlformats.org/officeDocument/2006/relationships/hyperlink" Target="https://jdih.jakarta.go.id/dokumenPeraturanDirectory/0031/2024KEPGUB0031730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openxmlformats.org/officeDocument/2006/relationships/image" Target="../media/image18.jpe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microsoft.com/office/2007/relationships/hdphoto" Target="../media/hdphoto4.wdp"/><Relationship Id="rId1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877C58-2182-580A-F130-87046C54C7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TVD Disclosure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3463A-FBE7-6FB1-027B-9595C525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1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7925-0B19-F20D-4691-8FA3573D8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Asia Pacific 2025 Utilities Cost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77010-2991-AFF8-25BD-E8FFB259CF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0DCA-2C15-A8AE-78DC-A70A4AF684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AF5C56-B754-0583-F141-4691BC8BD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13875"/>
              </p:ext>
            </p:extLst>
          </p:nvPr>
        </p:nvGraphicFramePr>
        <p:xfrm>
          <a:off x="636908" y="2418911"/>
          <a:ext cx="16590263" cy="653255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43435">
                  <a:extLst>
                    <a:ext uri="{9D8B030D-6E8A-4147-A177-3AD203B41FA5}">
                      <a16:colId xmlns:a16="http://schemas.microsoft.com/office/drawing/2014/main" val="168989094"/>
                    </a:ext>
                  </a:extLst>
                </a:gridCol>
                <a:gridCol w="2416246">
                  <a:extLst>
                    <a:ext uri="{9D8B030D-6E8A-4147-A177-3AD203B41FA5}">
                      <a16:colId xmlns:a16="http://schemas.microsoft.com/office/drawing/2014/main" val="823341355"/>
                    </a:ext>
                  </a:extLst>
                </a:gridCol>
                <a:gridCol w="2406316">
                  <a:extLst>
                    <a:ext uri="{9D8B030D-6E8A-4147-A177-3AD203B41FA5}">
                      <a16:colId xmlns:a16="http://schemas.microsoft.com/office/drawing/2014/main" val="405574566"/>
                    </a:ext>
                  </a:extLst>
                </a:gridCol>
                <a:gridCol w="2470484">
                  <a:extLst>
                    <a:ext uri="{9D8B030D-6E8A-4147-A177-3AD203B41FA5}">
                      <a16:colId xmlns:a16="http://schemas.microsoft.com/office/drawing/2014/main" val="3209163877"/>
                    </a:ext>
                  </a:extLst>
                </a:gridCol>
                <a:gridCol w="2406316">
                  <a:extLst>
                    <a:ext uri="{9D8B030D-6E8A-4147-A177-3AD203B41FA5}">
                      <a16:colId xmlns:a16="http://schemas.microsoft.com/office/drawing/2014/main" val="2430795483"/>
                    </a:ext>
                  </a:extLst>
                </a:gridCol>
                <a:gridCol w="2630906">
                  <a:extLst>
                    <a:ext uri="{9D8B030D-6E8A-4147-A177-3AD203B41FA5}">
                      <a16:colId xmlns:a16="http://schemas.microsoft.com/office/drawing/2014/main" val="1399028206"/>
                    </a:ext>
                  </a:extLst>
                </a:gridCol>
                <a:gridCol w="2516560">
                  <a:extLst>
                    <a:ext uri="{9D8B030D-6E8A-4147-A177-3AD203B41FA5}">
                      <a16:colId xmlns:a16="http://schemas.microsoft.com/office/drawing/2014/main" val="4197263701"/>
                    </a:ext>
                  </a:extLst>
                </a:gridCol>
              </a:tblGrid>
              <a:tr h="608417">
                <a:tc rowSpan="2">
                  <a:txBody>
                    <a:bodyPr/>
                    <a:lstStyle/>
                    <a:p>
                      <a:pPr algn="ctr"/>
                      <a:r>
                        <a:rPr lang="en-SG" sz="1800" dirty="0"/>
                        <a:t>Country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800" dirty="0"/>
                        <a:t>Water Price </a:t>
                      </a:r>
                      <a:r>
                        <a:rPr lang="en-SG" sz="1800" b="0" dirty="0"/>
                        <a:t>(per m</a:t>
                      </a:r>
                      <a:r>
                        <a:rPr lang="en-SG" sz="1800" b="0" baseline="30000" dirty="0"/>
                        <a:t>3</a:t>
                      </a:r>
                      <a:r>
                        <a:rPr lang="en-SG" sz="1800" b="0" dirty="0"/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800" dirty="0"/>
                        <a:t>Electricity Cost </a:t>
                      </a:r>
                      <a:r>
                        <a:rPr lang="en-SG" sz="1800" b="0" dirty="0"/>
                        <a:t>(per kWh)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800" dirty="0"/>
                        <a:t>Minimum Wage </a:t>
                      </a:r>
                      <a:r>
                        <a:rPr lang="en-SG" sz="1800" b="0" dirty="0"/>
                        <a:t>(per hour)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250880"/>
                  </a:ext>
                </a:extLst>
              </a:tr>
              <a:tr h="489267">
                <a:tc vMerge="1">
                  <a:txBody>
                    <a:bodyPr/>
                    <a:lstStyle/>
                    <a:p>
                      <a:pPr algn="ctr"/>
                      <a:endParaRPr lang="en-SG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Local Currency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Local Currency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Local Currency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492542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Singapore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"/>
                        </a:rPr>
                        <a:t>SGD 3.24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2.38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3"/>
                        </a:rPr>
                        <a:t>SGD 0.30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4"/>
                        </a:rPr>
                        <a:t>SGD 10.88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8.00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58014943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Malaysia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5"/>
                        </a:rPr>
                        <a:t>MYR 3.51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6"/>
                        </a:rPr>
                        <a:t>MYR 0.51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7"/>
                        </a:rPr>
                        <a:t>MYR 8.72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712470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Indonesia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8"/>
                        </a:rPr>
                        <a:t>IDR 17,500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9"/>
                        </a:rPr>
                        <a:t>IDR 1,114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0"/>
                        </a:rPr>
                        <a:t>IDR 2,880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22724765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Thailand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1"/>
                        </a:rPr>
                        <a:t>THB 31.75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2"/>
                        </a:rPr>
                        <a:t>THB 4.27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3"/>
                        </a:rPr>
                        <a:t>THB 50.00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251580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Vietnam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4"/>
                        </a:rPr>
                        <a:t>VND 29,266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5"/>
                        </a:rPr>
                        <a:t>VND 2,273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6"/>
                        </a:rPr>
                        <a:t>VND 22,500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46644144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Philippines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7"/>
                        </a:rPr>
                        <a:t>PHP 61.04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8"/>
                        </a:rPr>
                        <a:t>PHP 13.01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19"/>
                        </a:rPr>
                        <a:t>PHP 86.88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693885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Australia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0"/>
                        </a:rPr>
                        <a:t>AUD 3.17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1"/>
                        </a:rPr>
                        <a:t>AUD 0.27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2"/>
                        </a:rPr>
                        <a:t>AUD 24.95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15.47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8035524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Fiji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3"/>
                        </a:rPr>
                        <a:t>FJD 0.15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4"/>
                        </a:rPr>
                        <a:t>FJD 0.58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5"/>
                        </a:rPr>
                        <a:t>FJD 5.00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2.15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10048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New Zealand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6"/>
                        </a:rPr>
                        <a:t>NZD 2.30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7"/>
                        </a:rPr>
                        <a:t>NZD 0.24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8"/>
                        </a:rPr>
                        <a:t>NZD 23.50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13.16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09970509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Japan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29"/>
                        </a:rPr>
                        <a:t>JPY 372.00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2.41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30"/>
                        </a:rPr>
                        <a:t>JPY 14.00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31"/>
                        </a:rPr>
                        <a:t>JPY 1,118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7.24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52327"/>
                  </a:ext>
                </a:extLst>
              </a:tr>
              <a:tr h="49407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Korea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32"/>
                        </a:rPr>
                        <a:t>KRW 1,270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33"/>
                        </a:rPr>
                        <a:t>KRW 113.40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0.08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>
                          <a:hlinkClick r:id="rId34"/>
                        </a:rPr>
                        <a:t>KRW 10,320</a:t>
                      </a:r>
                      <a:endParaRPr lang="en-SG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USD 7.06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35654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8CA92BF-474F-02A3-358C-EC36C3EFD901}"/>
              </a:ext>
            </a:extLst>
          </p:cNvPr>
          <p:cNvSpPr txBox="1"/>
          <p:nvPr/>
        </p:nvSpPr>
        <p:spPr>
          <a:xfrm>
            <a:off x="636908" y="1928282"/>
            <a:ext cx="5075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>
                <a:solidFill>
                  <a:schemeClr val="tx2"/>
                </a:solidFill>
              </a:rPr>
              <a:t>Links to sources </a:t>
            </a:r>
            <a:r>
              <a:rPr lang="en-SG" sz="1400" dirty="0"/>
              <a:t>are embedded in the local currency column</a:t>
            </a:r>
          </a:p>
        </p:txBody>
      </p:sp>
    </p:spTree>
    <p:extLst>
      <p:ext uri="{BB962C8B-B14F-4D97-AF65-F5344CB8AC3E}">
        <p14:creationId xmlns:p14="http://schemas.microsoft.com/office/powerpoint/2010/main" val="324005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9E87826-AB55-E245-22A5-53131D63B739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C845AC-5F2A-4CE3-3753-F5118B01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Machine WW Detergent – SMARTPOWER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8505C1-07B7-FDE8-3463-E403516B705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21E153-0A89-E438-E187-362BDC59BAF4}"/>
              </a:ext>
            </a:extLst>
          </p:cNvPr>
          <p:cNvSpPr txBox="1"/>
          <p:nvPr/>
        </p:nvSpPr>
        <p:spPr>
          <a:xfrm>
            <a:off x="75054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a </a:t>
            </a:r>
            <a:r>
              <a:rPr lang="en-US" sz="1400" b="1" dirty="0">
                <a:solidFill>
                  <a:schemeClr val="tx2"/>
                </a:solidFill>
              </a:rPr>
              <a:t>10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b="1" dirty="0">
                <a:solidFill>
                  <a:schemeClr val="tx2"/>
                </a:solidFill>
              </a:rPr>
              <a:t>reduction in dishmachine cycles due to better results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D38FB1-296A-CC09-82CF-1D1ED1FB06EB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800E7F-320C-55EC-94CB-EEDF0AAE9531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9BE283-B2CC-B78E-931F-9FD1D9845F94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0FDBDF-C656-BED0-FAF8-1EFF40C9D347}"/>
              </a:ext>
            </a:extLst>
          </p:cNvPr>
          <p:cNvSpPr txBox="1"/>
          <p:nvPr/>
        </p:nvSpPr>
        <p:spPr>
          <a:xfrm>
            <a:off x="750540" y="4866076"/>
            <a:ext cx="35823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based on transition from a standard liquid detergent to a solid warewashing detergent, supporting a </a:t>
            </a:r>
            <a:r>
              <a:rPr lang="en-US" sz="1400" b="1" dirty="0">
                <a:solidFill>
                  <a:schemeClr val="tx2"/>
                </a:solidFill>
              </a:rPr>
              <a:t>10%</a:t>
            </a:r>
            <a:r>
              <a:rPr lang="en-US" sz="1400" dirty="0"/>
              <a:t> reduction in rewashing of wares.</a:t>
            </a:r>
          </a:p>
          <a:p>
            <a:endParaRPr lang="en-US" sz="1400" dirty="0"/>
          </a:p>
          <a:p>
            <a:r>
              <a:rPr lang="en-US" sz="1400" dirty="0"/>
              <a:t>The reduction in rewashing is due to better cleaning performance of </a:t>
            </a:r>
            <a:r>
              <a:rPr lang="en-US" sz="1400" b="1" dirty="0">
                <a:solidFill>
                  <a:schemeClr val="accent2"/>
                </a:solidFill>
              </a:rPr>
              <a:t>Smartpower Dishmachine Detergent </a:t>
            </a:r>
            <a:r>
              <a:rPr lang="en-US" sz="1400" dirty="0"/>
              <a:t>which gets more wares clean in the first wash and therefore reduces rewashing wares.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D9C9E0-C9A6-D31A-B18E-3A9BB6FAE798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75F5B3-B500-565A-7694-D5B07215A9B5}"/>
              </a:ext>
            </a:extLst>
          </p:cNvPr>
          <p:cNvSpPr txBox="1"/>
          <p:nvPr/>
        </p:nvSpPr>
        <p:spPr>
          <a:xfrm>
            <a:off x="498611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a </a:t>
            </a:r>
            <a:r>
              <a:rPr lang="en-US" sz="1400" b="1" dirty="0">
                <a:solidFill>
                  <a:schemeClr val="tx2"/>
                </a:solidFill>
              </a:rPr>
              <a:t>10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b="1" dirty="0">
                <a:solidFill>
                  <a:schemeClr val="tx2"/>
                </a:solidFill>
              </a:rPr>
              <a:t>reduction in dishmachine cycles due to better results</a:t>
            </a:r>
            <a:r>
              <a:rPr lang="en-US" sz="14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5E8C6-AF98-CDCB-69A2-AFC19A8EA10F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A26193-8B55-402E-23EF-26FD98D8A429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51CD5D-A86A-8B9D-BD27-F6DF76C48441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DF572-785F-7B4C-BF0D-585B62D9DC9A}"/>
              </a:ext>
            </a:extLst>
          </p:cNvPr>
          <p:cNvSpPr txBox="1"/>
          <p:nvPr/>
        </p:nvSpPr>
        <p:spPr>
          <a:xfrm>
            <a:off x="4986110" y="4866076"/>
            <a:ext cx="35823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based on transition from a standard liquid detergent to a solid warewashing detergent, supporting a </a:t>
            </a:r>
            <a:r>
              <a:rPr lang="en-US" sz="1400" b="1" dirty="0">
                <a:solidFill>
                  <a:schemeClr val="tx2"/>
                </a:solidFill>
              </a:rPr>
              <a:t>10%</a:t>
            </a:r>
            <a:r>
              <a:rPr lang="en-US" sz="1400" dirty="0"/>
              <a:t> reduction in rewashing of wares.</a:t>
            </a:r>
          </a:p>
          <a:p>
            <a:endParaRPr lang="en-US" sz="1400" dirty="0"/>
          </a:p>
          <a:p>
            <a:r>
              <a:rPr lang="en-US" sz="1400" dirty="0"/>
              <a:t>The reduction in rewashing is due to better cleaning performance of </a:t>
            </a:r>
            <a:r>
              <a:rPr lang="en-US" sz="1400" b="1" dirty="0">
                <a:solidFill>
                  <a:schemeClr val="accent2"/>
                </a:solidFill>
              </a:rPr>
              <a:t>Smartpower Dishmachine Detergent </a:t>
            </a:r>
            <a:r>
              <a:rPr lang="en-US" sz="1400" dirty="0"/>
              <a:t>which gets more wares clean in the first wash and therefore reduces rewashing wares.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DCD87C-98FB-AB33-1E35-06C176A61F5C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069EC3-783E-9DCC-5DDA-B682EB6FB4AD}"/>
              </a:ext>
            </a:extLst>
          </p:cNvPr>
          <p:cNvSpPr txBox="1"/>
          <p:nvPr/>
        </p:nvSpPr>
        <p:spPr>
          <a:xfrm>
            <a:off x="922168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based on a </a:t>
            </a:r>
            <a:r>
              <a:rPr lang="en-US" sz="1400" b="1" dirty="0">
                <a:solidFill>
                  <a:schemeClr val="tx2"/>
                </a:solidFill>
              </a:rPr>
              <a:t>10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b="1" dirty="0">
                <a:solidFill>
                  <a:schemeClr val="tx2"/>
                </a:solidFill>
              </a:rPr>
              <a:t>reduction in dishmachine cycles due to better results</a:t>
            </a:r>
            <a:r>
              <a:rPr lang="en-US" sz="14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2BDA3E-FB17-0826-E2EC-9FBA20A28053}"/>
              </a:ext>
            </a:extLst>
          </p:cNvPr>
          <p:cNvSpPr txBox="1"/>
          <p:nvPr/>
        </p:nvSpPr>
        <p:spPr>
          <a:xfrm>
            <a:off x="922168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26AF71-19DD-0D07-D9C6-3ADED8BD6685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3DDC48-E0EB-D15F-C67A-36EEE721736C}"/>
              </a:ext>
            </a:extLst>
          </p:cNvPr>
          <p:cNvSpPr txBox="1"/>
          <p:nvPr/>
        </p:nvSpPr>
        <p:spPr>
          <a:xfrm>
            <a:off x="922168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7A8E08-C842-7A39-81A4-A32061DECF1F}"/>
              </a:ext>
            </a:extLst>
          </p:cNvPr>
          <p:cNvSpPr txBox="1"/>
          <p:nvPr/>
        </p:nvSpPr>
        <p:spPr>
          <a:xfrm>
            <a:off x="9221680" y="4866076"/>
            <a:ext cx="35823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assumes employees will </a:t>
            </a:r>
            <a:r>
              <a:rPr lang="en-US" sz="1400" b="1" dirty="0">
                <a:solidFill>
                  <a:schemeClr val="tx2"/>
                </a:solidFill>
              </a:rPr>
              <a:t>save 60 seconds racking </a:t>
            </a:r>
            <a:r>
              <a:rPr lang="en-US" sz="1400" dirty="0"/>
              <a:t>and</a:t>
            </a:r>
            <a:r>
              <a:rPr lang="en-US" sz="1400" b="1" dirty="0">
                <a:solidFill>
                  <a:schemeClr val="tx2"/>
                </a:solidFill>
              </a:rPr>
              <a:t> 15 seconds hand polishing</a:t>
            </a:r>
            <a:r>
              <a:rPr lang="en-US" sz="1400" dirty="0"/>
              <a:t> per rack of wares avoided due to better results from improved operational efficiency. Assumption based on customer feedback.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ABB901-8845-1C90-BE39-8AAA3C54F459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A7973C-7418-EB5F-CB8F-9CBB075A469A}"/>
              </a:ext>
            </a:extLst>
          </p:cNvPr>
          <p:cNvSpPr txBox="1"/>
          <p:nvPr/>
        </p:nvSpPr>
        <p:spPr>
          <a:xfrm>
            <a:off x="13457250" y="313914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based on a </a:t>
            </a:r>
            <a:r>
              <a:rPr lang="en-US" sz="1400" b="1" dirty="0">
                <a:solidFill>
                  <a:schemeClr val="tx2"/>
                </a:solidFill>
              </a:rPr>
              <a:t>10% reduction in hot water usage</a:t>
            </a:r>
            <a:r>
              <a:rPr lang="en-US" sz="1400" dirty="0"/>
              <a:t>, and therefore </a:t>
            </a:r>
            <a:r>
              <a:rPr lang="en-US" sz="1400" b="1" dirty="0">
                <a:solidFill>
                  <a:schemeClr val="tx2"/>
                </a:solidFill>
              </a:rPr>
              <a:t>a reduction in energy used to heat the water</a:t>
            </a:r>
            <a:r>
              <a:rPr lang="en-US" sz="14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C6B332-90B7-19DD-FC0F-5F3772DFCD3D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7FC94F-1D93-7496-6272-E2A59A83F541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4FFB84-2A11-8D30-D3DA-44558086DAC0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0D54A7-ACCB-C6D6-4B00-15E5CCAED972}"/>
              </a:ext>
            </a:extLst>
          </p:cNvPr>
          <p:cNvSpPr txBox="1"/>
          <p:nvPr/>
        </p:nvSpPr>
        <p:spPr>
          <a:xfrm>
            <a:off x="13457250" y="486607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based on transition from a standard liquid detergent to a solid warewashing detergent, supporting a </a:t>
            </a:r>
            <a:r>
              <a:rPr lang="en-US" sz="1400" b="1" dirty="0">
                <a:solidFill>
                  <a:schemeClr val="tx2"/>
                </a:solidFill>
              </a:rPr>
              <a:t>10% </a:t>
            </a:r>
            <a:r>
              <a:rPr lang="en-US" sz="1400" dirty="0"/>
              <a:t>reduction in rewashing of wares.</a:t>
            </a:r>
          </a:p>
          <a:p>
            <a:endParaRPr lang="en-US" sz="1400" dirty="0"/>
          </a:p>
          <a:p>
            <a:r>
              <a:rPr lang="en-US" sz="1400" dirty="0"/>
              <a:t>Energy reduction assumes a </a:t>
            </a:r>
            <a:r>
              <a:rPr lang="en-US" sz="1400" b="1" dirty="0">
                <a:solidFill>
                  <a:schemeClr val="tx2"/>
                </a:solidFill>
              </a:rPr>
              <a:t>reduction in hot water due to lower usage</a:t>
            </a:r>
            <a:r>
              <a:rPr lang="en-US" sz="1400" dirty="0"/>
              <a:t>, with hot water requiring energy to heat from 10C (50F) to 82C (180F).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</a:t>
            </a:r>
            <a:r>
              <a:rPr lang="en-US" sz="1400" baseline="-25000" dirty="0"/>
              <a:t>2</a:t>
            </a:r>
            <a:r>
              <a:rPr lang="en-US" sz="1400" dirty="0"/>
              <a:t>/therm.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3BFA5F9-4F3F-67A7-6336-B510A25BF537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B708E5-D00F-4B8B-5196-62238E28BDB9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2AE89F8-3A49-62E3-2DC9-2AA84ED260F2}"/>
              </a:ext>
            </a:extLst>
          </p:cNvPr>
          <p:cNvCxnSpPr>
            <a:cxnSpLocks/>
          </p:cNvCxnSpPr>
          <p:nvPr/>
        </p:nvCxnSpPr>
        <p:spPr>
          <a:xfrm>
            <a:off x="924718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E0CC8FF-01B1-0950-BB23-D31C996C8B4C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84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F119-A905-3A26-96A1-4B593D677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AF42249-CDC2-8B06-1E9C-06A83E8ABCB1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643484-84D8-91B1-072C-13B938F8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Machine WW Detergent – Solids (non-SMP)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DD4235-2C56-D8AB-F999-DA2FFEDAC6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ABE2D-F0D9-82ED-52E2-287FBF7E3C42}"/>
              </a:ext>
            </a:extLst>
          </p:cNvPr>
          <p:cNvSpPr txBox="1"/>
          <p:nvPr/>
        </p:nvSpPr>
        <p:spPr>
          <a:xfrm>
            <a:off x="750540" y="313914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an </a:t>
            </a:r>
            <a:r>
              <a:rPr lang="en-US" sz="1400" b="1" dirty="0">
                <a:solidFill>
                  <a:schemeClr val="tx2"/>
                </a:solidFill>
              </a:rPr>
              <a:t>8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b="1" dirty="0">
                <a:solidFill>
                  <a:schemeClr val="tx2"/>
                </a:solidFill>
              </a:rPr>
              <a:t>reduction in dishmachine cycles due to improved operational efficiency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A4662B-204B-50FD-0917-2B671363A1A1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FB52FB-4FA6-6A40-8251-61E91F96A76A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95AA88-9F28-A528-252C-717A944E554C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C869EB-4309-FC14-D46D-015D764D0C31}"/>
              </a:ext>
            </a:extLst>
          </p:cNvPr>
          <p:cNvSpPr txBox="1"/>
          <p:nvPr/>
        </p:nvSpPr>
        <p:spPr>
          <a:xfrm>
            <a:off x="750540" y="4866076"/>
            <a:ext cx="35823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8%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maintenance).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4F38D8-4719-0CD7-DBEA-9A14B9D12538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BC2496-E56E-9521-F2DB-4B5911950E6C}"/>
              </a:ext>
            </a:extLst>
          </p:cNvPr>
          <p:cNvSpPr txBox="1"/>
          <p:nvPr/>
        </p:nvSpPr>
        <p:spPr>
          <a:xfrm>
            <a:off x="498611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an </a:t>
            </a:r>
            <a:r>
              <a:rPr lang="en-US" sz="1400" b="1" dirty="0">
                <a:solidFill>
                  <a:schemeClr val="tx2"/>
                </a:solidFill>
              </a:rPr>
              <a:t>8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b="1" dirty="0">
                <a:solidFill>
                  <a:schemeClr val="tx2"/>
                </a:solidFill>
              </a:rPr>
              <a:t>reduction in dishmachine cycles due to improved operational efficiency</a:t>
            </a:r>
            <a:r>
              <a:rPr lang="en-US" sz="14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E321EA-3C6F-2915-2399-883A038644D2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F8255F-9742-9F68-B67F-69FF7709671F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C3509-0BAF-D495-F3F3-7DF2361AAC18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C28A87-C7D8-C100-3365-AD8C02B9EA15}"/>
              </a:ext>
            </a:extLst>
          </p:cNvPr>
          <p:cNvSpPr txBox="1"/>
          <p:nvPr/>
        </p:nvSpPr>
        <p:spPr>
          <a:xfrm>
            <a:off x="4986110" y="4866076"/>
            <a:ext cx="35823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8%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maintenance).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8E4A59-CC77-3E29-4538-C65F90D322D4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C3B249-4569-02DC-B111-FD6E373403A8}"/>
              </a:ext>
            </a:extLst>
          </p:cNvPr>
          <p:cNvSpPr txBox="1"/>
          <p:nvPr/>
        </p:nvSpPr>
        <p:spPr>
          <a:xfrm>
            <a:off x="9221680" y="313914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is estimated to improve based on an </a:t>
            </a:r>
            <a:r>
              <a:rPr lang="en-US" sz="1400" b="1" dirty="0">
                <a:solidFill>
                  <a:schemeClr val="tx2"/>
                </a:solidFill>
              </a:rPr>
              <a:t>8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b="1" dirty="0">
                <a:solidFill>
                  <a:schemeClr val="tx2"/>
                </a:solidFill>
              </a:rPr>
              <a:t>reduction in dishmachine cycles due to improved operational efficiency</a:t>
            </a:r>
            <a:r>
              <a:rPr lang="en-US" sz="14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4A2A83-1991-003D-A23A-A9E8D47B43FF}"/>
              </a:ext>
            </a:extLst>
          </p:cNvPr>
          <p:cNvSpPr txBox="1"/>
          <p:nvPr/>
        </p:nvSpPr>
        <p:spPr>
          <a:xfrm>
            <a:off x="922168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CE7C89-DEA7-FF9F-61D5-14E36CBB9EF2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7E040C-42EB-B7D2-E01E-ED4C6D1CE728}"/>
              </a:ext>
            </a:extLst>
          </p:cNvPr>
          <p:cNvSpPr txBox="1"/>
          <p:nvPr/>
        </p:nvSpPr>
        <p:spPr>
          <a:xfrm>
            <a:off x="922168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3975AD-9673-BB4B-E2F2-5399316CA331}"/>
              </a:ext>
            </a:extLst>
          </p:cNvPr>
          <p:cNvSpPr txBox="1"/>
          <p:nvPr/>
        </p:nvSpPr>
        <p:spPr>
          <a:xfrm>
            <a:off x="9221680" y="4866076"/>
            <a:ext cx="358239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8%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maintenance).</a:t>
            </a:r>
          </a:p>
          <a:p>
            <a:endParaRPr lang="en-US" sz="1400" dirty="0"/>
          </a:p>
          <a:p>
            <a:r>
              <a:rPr lang="en-US" sz="1400" dirty="0"/>
              <a:t>Assumes </a:t>
            </a:r>
            <a:r>
              <a:rPr lang="en-US" sz="1400" b="1" dirty="0">
                <a:solidFill>
                  <a:schemeClr val="tx2"/>
                </a:solidFill>
              </a:rPr>
              <a:t>60s saved per rack </a:t>
            </a:r>
            <a:r>
              <a:rPr lang="en-US" sz="1400" dirty="0"/>
              <a:t>not run due to operational efficiency improvement, and employees will </a:t>
            </a:r>
            <a:r>
              <a:rPr lang="en-US" sz="1400" b="1" dirty="0">
                <a:solidFill>
                  <a:schemeClr val="tx2"/>
                </a:solidFill>
              </a:rPr>
              <a:t>spend 15 fewer seconds hand polishing </a:t>
            </a:r>
            <a:r>
              <a:rPr lang="en-US" sz="1400" dirty="0"/>
              <a:t>per rack of wares washed due to better ware drying with less spotting and filming. Assumption based on customer feedback.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7AD839-CF25-B503-E38D-2E611BFE6FBD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AE6E7A-52C6-221E-1ECE-0419EB1EBFC0}"/>
              </a:ext>
            </a:extLst>
          </p:cNvPr>
          <p:cNvSpPr txBox="1"/>
          <p:nvPr/>
        </p:nvSpPr>
        <p:spPr>
          <a:xfrm>
            <a:off x="13457250" y="313914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based on an </a:t>
            </a:r>
            <a:r>
              <a:rPr lang="en-US" sz="1400" b="1" dirty="0">
                <a:solidFill>
                  <a:schemeClr val="tx2"/>
                </a:solidFill>
              </a:rPr>
              <a:t>8% reduction in hot water usage</a:t>
            </a:r>
            <a:r>
              <a:rPr lang="en-US" sz="1400" dirty="0"/>
              <a:t>, and therefore </a:t>
            </a:r>
            <a:r>
              <a:rPr lang="en-US" sz="1400" b="1" dirty="0">
                <a:solidFill>
                  <a:schemeClr val="tx2"/>
                </a:solidFill>
              </a:rPr>
              <a:t>a reduction in energy used to heat the water</a:t>
            </a:r>
            <a:r>
              <a:rPr lang="en-US" sz="14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B0B1BA-5498-D089-C124-74AF74DF1243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9655B9-6450-304E-CB21-08E2797E7FF6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297464-8D06-FCBD-D287-2E7BB1617428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DFFE1-817E-B53A-57AB-2F0748316852}"/>
              </a:ext>
            </a:extLst>
          </p:cNvPr>
          <p:cNvSpPr txBox="1"/>
          <p:nvPr/>
        </p:nvSpPr>
        <p:spPr>
          <a:xfrm>
            <a:off x="13457250" y="4866076"/>
            <a:ext cx="35823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8%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maintenance.</a:t>
            </a:r>
          </a:p>
          <a:p>
            <a:endParaRPr lang="en-US" sz="1400" dirty="0"/>
          </a:p>
          <a:p>
            <a:r>
              <a:rPr lang="en-US" sz="1400" dirty="0"/>
              <a:t>Energy reduction assumes </a:t>
            </a:r>
            <a:r>
              <a:rPr lang="en-US" sz="1400" b="1" dirty="0">
                <a:solidFill>
                  <a:schemeClr val="tx2"/>
                </a:solidFill>
              </a:rPr>
              <a:t>a reduction in hot water due to lower usage</a:t>
            </a:r>
            <a:r>
              <a:rPr lang="en-US" sz="1400" dirty="0"/>
              <a:t>, with hot water requiring energy to heat from 10C (50F) to 40C (140F).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</a:t>
            </a:r>
            <a:r>
              <a:rPr lang="en-US" sz="1400" baseline="-25000" dirty="0"/>
              <a:t>2</a:t>
            </a:r>
            <a:r>
              <a:rPr lang="en-US" sz="1400" dirty="0"/>
              <a:t>/therm.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29418E-6A21-C5D0-41B6-95074FE59FEB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6034B2-981D-0261-0B45-2A916CEBCA2B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CC53CC-23DC-637A-B6D8-2D42A016F085}"/>
              </a:ext>
            </a:extLst>
          </p:cNvPr>
          <p:cNvCxnSpPr>
            <a:cxnSpLocks/>
          </p:cNvCxnSpPr>
          <p:nvPr/>
        </p:nvCxnSpPr>
        <p:spPr>
          <a:xfrm>
            <a:off x="924718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2E2EDA-D299-FE66-1054-765129DE228B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75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8C8F-1548-8522-3589-76575F75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CFFFE69-C320-0102-DFF1-AB439C103F73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225EB7-1E0E-ABC0-9A31-05BBDCE1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Machine WW Detergent – Liquids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F7416-710C-1E5D-2425-63F799692A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BF21E-3449-5460-912D-949477981045}"/>
              </a:ext>
            </a:extLst>
          </p:cNvPr>
          <p:cNvSpPr txBox="1"/>
          <p:nvPr/>
        </p:nvSpPr>
        <p:spPr>
          <a:xfrm>
            <a:off x="75054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a </a:t>
            </a:r>
            <a:r>
              <a:rPr lang="en-US" sz="1400" b="1" dirty="0">
                <a:solidFill>
                  <a:schemeClr val="tx2"/>
                </a:solidFill>
              </a:rPr>
              <a:t>5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dirty="0"/>
              <a:t>reduction in dishmachine cycles due to improved operational efficiency.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AEC1F7-6242-47EB-A4C2-43181EE8E1A2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570925-45D5-30ED-CD12-60958AFA1149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A79E37-EA65-F5E2-6CDB-D0F9E9DD74B8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90C4A-9798-250C-DA0F-97753C51EF57}"/>
              </a:ext>
            </a:extLst>
          </p:cNvPr>
          <p:cNvSpPr txBox="1"/>
          <p:nvPr/>
        </p:nvSpPr>
        <p:spPr>
          <a:xfrm>
            <a:off x="750540" y="4866076"/>
            <a:ext cx="35823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5%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maintenance).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226B7A-1728-7445-F71A-D6A924FF092C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69EED3-BF6B-4C18-0297-DF97CE29BADC}"/>
              </a:ext>
            </a:extLst>
          </p:cNvPr>
          <p:cNvSpPr txBox="1"/>
          <p:nvPr/>
        </p:nvSpPr>
        <p:spPr>
          <a:xfrm>
            <a:off x="498611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a </a:t>
            </a:r>
            <a:r>
              <a:rPr lang="en-US" sz="1400" b="1" dirty="0">
                <a:solidFill>
                  <a:schemeClr val="tx2"/>
                </a:solidFill>
              </a:rPr>
              <a:t>5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dirty="0"/>
              <a:t>reduction in dishmachine cycles due to improved operational efficiency.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786690-8C35-C89A-FA47-8211D58EED7B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D3D820-5ECC-F9A2-ADFD-C2F0D432AD25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B2153A-EC11-70E3-AB17-B55A575C485D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725716-D5CD-103D-5458-0255A005D149}"/>
              </a:ext>
            </a:extLst>
          </p:cNvPr>
          <p:cNvSpPr txBox="1"/>
          <p:nvPr/>
        </p:nvSpPr>
        <p:spPr>
          <a:xfrm>
            <a:off x="4986110" y="4866076"/>
            <a:ext cx="35823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5%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maintenance).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8DECFE-B998-06B5-0054-4ABAAC656566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B81A89-4A3B-0ED9-6221-5F1AAE9C57DB}"/>
              </a:ext>
            </a:extLst>
          </p:cNvPr>
          <p:cNvSpPr txBox="1"/>
          <p:nvPr/>
        </p:nvSpPr>
        <p:spPr>
          <a:xfrm>
            <a:off x="922168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is estimated to improve based on a </a:t>
            </a:r>
            <a:r>
              <a:rPr lang="en-US" sz="1400" b="1" dirty="0">
                <a:solidFill>
                  <a:schemeClr val="tx2"/>
                </a:solidFill>
              </a:rPr>
              <a:t>5</a:t>
            </a:r>
            <a:r>
              <a:rPr lang="en-US" sz="1400" dirty="0">
                <a:solidFill>
                  <a:schemeClr val="tx2"/>
                </a:solidFill>
              </a:rPr>
              <a:t>% </a:t>
            </a:r>
            <a:r>
              <a:rPr lang="en-US" sz="1400" dirty="0"/>
              <a:t>reduction in dishmachine cycles due to improved operational efficiency.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1EEFBA-0D93-7A2E-9A19-D0E152CE832B}"/>
              </a:ext>
            </a:extLst>
          </p:cNvPr>
          <p:cNvSpPr txBox="1"/>
          <p:nvPr/>
        </p:nvSpPr>
        <p:spPr>
          <a:xfrm>
            <a:off x="922168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34425A-12E1-8280-CAD3-3BBB992F48AA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E7FB7A-86CB-E204-9378-C1BFF4069799}"/>
              </a:ext>
            </a:extLst>
          </p:cNvPr>
          <p:cNvSpPr txBox="1"/>
          <p:nvPr/>
        </p:nvSpPr>
        <p:spPr>
          <a:xfrm>
            <a:off x="922168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ADF6AA-F851-1687-51B3-0F64D4185BD3}"/>
              </a:ext>
            </a:extLst>
          </p:cNvPr>
          <p:cNvSpPr txBox="1"/>
          <p:nvPr/>
        </p:nvSpPr>
        <p:spPr>
          <a:xfrm>
            <a:off x="9221680" y="4866076"/>
            <a:ext cx="358239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5%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maintenance).</a:t>
            </a:r>
          </a:p>
          <a:p>
            <a:endParaRPr lang="en-US" sz="1400" dirty="0"/>
          </a:p>
          <a:p>
            <a:r>
              <a:rPr lang="en-US" sz="1400" dirty="0"/>
              <a:t>Assumes </a:t>
            </a:r>
            <a:r>
              <a:rPr lang="en-US" sz="1400" b="1" dirty="0">
                <a:solidFill>
                  <a:schemeClr val="tx2"/>
                </a:solidFill>
              </a:rPr>
              <a:t>60s saved per rack </a:t>
            </a:r>
            <a:r>
              <a:rPr lang="en-US" sz="1400" dirty="0"/>
              <a:t>not run due to operational efficiency improvement, and employees will </a:t>
            </a:r>
            <a:r>
              <a:rPr lang="en-US" sz="1400" b="1" dirty="0">
                <a:solidFill>
                  <a:schemeClr val="tx2"/>
                </a:solidFill>
              </a:rPr>
              <a:t>spend 15 fewer seconds hand polishing </a:t>
            </a:r>
            <a:r>
              <a:rPr lang="en-US" sz="1400" dirty="0"/>
              <a:t>per rack of wares washed due to better ware drying with less spotting and filming. Assumption based on customer feedback.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6CC191-BE37-2FA8-BEB6-B08B97F96022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B75962-851C-8273-D896-54F109CB9E41}"/>
              </a:ext>
            </a:extLst>
          </p:cNvPr>
          <p:cNvSpPr txBox="1"/>
          <p:nvPr/>
        </p:nvSpPr>
        <p:spPr>
          <a:xfrm>
            <a:off x="13457250" y="313914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is estimated to be reduced based on an </a:t>
            </a:r>
            <a:r>
              <a:rPr lang="en-US" sz="1400" b="1" dirty="0">
                <a:solidFill>
                  <a:schemeClr val="tx2"/>
                </a:solidFill>
              </a:rPr>
              <a:t>5% </a:t>
            </a:r>
            <a:r>
              <a:rPr lang="en-US" sz="1400" dirty="0"/>
              <a:t>reduction in hot water usage, and therefore a reduction in energy used to heat the water.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469D68-FCBA-2AE5-DFD8-4B2F215C2423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EAEFC0-0931-5378-527B-D422B8D33EC2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37E61F-6F62-EFF5-FD9A-4FEBB3CFE4FA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3D8763-3793-E757-7C69-F64D15EEADCB}"/>
              </a:ext>
            </a:extLst>
          </p:cNvPr>
          <p:cNvSpPr txBox="1"/>
          <p:nvPr/>
        </p:nvSpPr>
        <p:spPr>
          <a:xfrm>
            <a:off x="13457250" y="4866076"/>
            <a:ext cx="35823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the result of reduction in total racks run via fewer rewash, increasing dishmachine operational efficiency by </a:t>
            </a:r>
            <a:r>
              <a:rPr lang="en-US" sz="1400" b="1" dirty="0">
                <a:solidFill>
                  <a:schemeClr val="tx2"/>
                </a:solidFill>
              </a:rPr>
              <a:t>5%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and equipment maintenance.</a:t>
            </a:r>
          </a:p>
          <a:p>
            <a:endParaRPr lang="en-US" sz="1400" dirty="0"/>
          </a:p>
          <a:p>
            <a:r>
              <a:rPr lang="en-US" sz="1400" dirty="0"/>
              <a:t>Energy reduction assumes </a:t>
            </a:r>
            <a:r>
              <a:rPr lang="en-US" sz="1400" b="1" dirty="0">
                <a:solidFill>
                  <a:schemeClr val="tx2"/>
                </a:solidFill>
              </a:rPr>
              <a:t>a reduction in hot water due to lower usage</a:t>
            </a:r>
            <a:r>
              <a:rPr lang="en-US" sz="1400" dirty="0"/>
              <a:t>, with hot water requiring energy to heat from 10C (50F) to 40C (140F).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</a:t>
            </a:r>
            <a:r>
              <a:rPr lang="en-US" sz="1400" baseline="-25000" dirty="0"/>
              <a:t>2</a:t>
            </a:r>
            <a:r>
              <a:rPr lang="en-US" sz="1400" dirty="0"/>
              <a:t>/therm.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24D3E3-111B-4650-DE93-22911FBE5A7F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AC9FC4-3E01-DF16-CB14-22B816978304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FACA49-DFAF-4932-5806-4DC57592418A}"/>
              </a:ext>
            </a:extLst>
          </p:cNvPr>
          <p:cNvCxnSpPr>
            <a:cxnSpLocks/>
          </p:cNvCxnSpPr>
          <p:nvPr/>
        </p:nvCxnSpPr>
        <p:spPr>
          <a:xfrm>
            <a:off x="924718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8644A4-7D13-88DE-1771-E56E8B30411A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708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456D-BD15-3A96-216C-6E2F6291E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7108EC8-5AD0-BB93-1A7A-BC8C57C50EC3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1A591F-C7DF-8FF8-BEF4-BE6317E0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Manual WW Detergent – SMARTPOWER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EF8B8-EBA9-1FE7-137E-DB9719D7F6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61F720-6B6E-8CB8-5B66-AD81C1C8A45D}"/>
              </a:ext>
            </a:extLst>
          </p:cNvPr>
          <p:cNvSpPr txBox="1"/>
          <p:nvPr/>
        </p:nvSpPr>
        <p:spPr>
          <a:xfrm>
            <a:off x="75054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a </a:t>
            </a:r>
            <a:r>
              <a:rPr lang="en-US" sz="1400" b="1" dirty="0">
                <a:solidFill>
                  <a:schemeClr val="tx2"/>
                </a:solidFill>
              </a:rPr>
              <a:t>reduction in sinks required.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2A6F72-0292-81A5-4C2D-DB09B747FC91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4203AD-3800-83E6-948B-93DF07267018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4A161-244E-1DCD-8613-B3D268AE74F9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90CD7B-682B-DE66-0004-12B0CEBF93A4}"/>
              </a:ext>
            </a:extLst>
          </p:cNvPr>
          <p:cNvSpPr txBox="1"/>
          <p:nvPr/>
        </p:nvSpPr>
        <p:spPr>
          <a:xfrm>
            <a:off x="750540" y="486607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based on a </a:t>
            </a:r>
            <a:r>
              <a:rPr lang="en-US" sz="1400" b="1" dirty="0">
                <a:solidFill>
                  <a:schemeClr val="tx2"/>
                </a:solidFill>
              </a:rPr>
              <a:t>25%</a:t>
            </a:r>
            <a:r>
              <a:rPr lang="en-US" sz="1400" dirty="0"/>
              <a:t> reduction in sinks required to wash an equivalent amount of ware in the sink due to a more concentrated product.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1EC5B0-91EF-CF3A-604B-C433209AEA41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A850F3-F1DE-DA6F-C53E-8A3424DC8099}"/>
              </a:ext>
            </a:extLst>
          </p:cNvPr>
          <p:cNvSpPr txBox="1"/>
          <p:nvPr/>
        </p:nvSpPr>
        <p:spPr>
          <a:xfrm>
            <a:off x="498611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a </a:t>
            </a:r>
            <a:r>
              <a:rPr lang="en-US" sz="1400" b="1" dirty="0">
                <a:solidFill>
                  <a:schemeClr val="tx2"/>
                </a:solidFill>
              </a:rPr>
              <a:t>reduction in sinks required.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D0780-3302-061D-9A19-A5061DA37EDA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D48762-57D4-06D7-D8BF-D525CF7D042B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2D5503-52E9-A14D-F4C5-87F08B0AA808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8DEB6A-9215-E95F-16B4-0BC98A9AB97D}"/>
              </a:ext>
            </a:extLst>
          </p:cNvPr>
          <p:cNvSpPr txBox="1"/>
          <p:nvPr/>
        </p:nvSpPr>
        <p:spPr>
          <a:xfrm>
            <a:off x="4986110" y="486607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based on a </a:t>
            </a:r>
            <a:r>
              <a:rPr lang="en-US" sz="1400" b="1" dirty="0">
                <a:solidFill>
                  <a:schemeClr val="tx2"/>
                </a:solidFill>
              </a:rPr>
              <a:t>25%</a:t>
            </a:r>
            <a:r>
              <a:rPr lang="en-US" sz="1400" dirty="0"/>
              <a:t> reduction in sinks required to wash an equivalent amount of ware in the sink due to a more concentrated product.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2AA799-2047-8A68-07C4-94DF39A44BF2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E96894-9824-E0B6-BB85-98D9E218B2C5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7C2D4-EA6A-54CC-45E9-A5C4574EFFAB}"/>
              </a:ext>
            </a:extLst>
          </p:cNvPr>
          <p:cNvSpPr txBox="1"/>
          <p:nvPr/>
        </p:nvSpPr>
        <p:spPr>
          <a:xfrm>
            <a:off x="9376971" y="2931834"/>
            <a:ext cx="3322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800" b="1" dirty="0">
                <a:solidFill>
                  <a:schemeClr val="bg2"/>
                </a:solidFill>
              </a:rPr>
              <a:t>NOT APPLICABLE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9CA2B4-0341-08A5-A396-D53B1ADC003F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37E85A-4500-49F4-8899-195C94735045}"/>
              </a:ext>
            </a:extLst>
          </p:cNvPr>
          <p:cNvSpPr txBox="1"/>
          <p:nvPr/>
        </p:nvSpPr>
        <p:spPr>
          <a:xfrm>
            <a:off x="1345725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based on a </a:t>
            </a:r>
            <a:r>
              <a:rPr lang="en-US" sz="1400" b="1" dirty="0">
                <a:solidFill>
                  <a:schemeClr val="tx2"/>
                </a:solidFill>
              </a:rPr>
              <a:t>reduction in sinks required.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BCC97F-F7BF-A0BC-EF61-C1A155F41AAB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62C6A4-C5F3-B486-7C43-19098478213F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C49D3-82F6-6E8F-1AC5-E485E2488CB8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1586D0-C7CB-73F5-D6A3-048A74CF8A3F}"/>
              </a:ext>
            </a:extLst>
          </p:cNvPr>
          <p:cNvSpPr txBox="1"/>
          <p:nvPr/>
        </p:nvSpPr>
        <p:spPr>
          <a:xfrm>
            <a:off x="13457250" y="4866076"/>
            <a:ext cx="35823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based on a </a:t>
            </a:r>
            <a:r>
              <a:rPr lang="en-US" sz="1400" b="1" dirty="0">
                <a:solidFill>
                  <a:schemeClr val="tx2"/>
                </a:solidFill>
              </a:rPr>
              <a:t>25%</a:t>
            </a:r>
            <a:r>
              <a:rPr lang="en-US" sz="1400" dirty="0"/>
              <a:t> reduction in sinks required to wash an equivalent amount of ware in the sink due to a more concentrated product.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CO2/therm.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F48DC2-5FA8-2245-0338-0C1F91DDF192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05D416D-DABD-2835-8E4B-5EF9498BF8CB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064F1F-5FA4-F0F7-F5F1-DD37940AAF5E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075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5151-2EE5-7A48-B5DF-3B1DC32C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EF1654E-DE5C-A3CA-C336-695E62FF0D44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78A5DD-1919-A3B0-3DAC-170C0104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Sanitizing Wash ‘N Walk / No-Rinse Floor Cleaners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768C0C-7590-6454-11EA-7BB7F457F4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3C9932-C301-CCEA-80C7-B6DE8B84DB41}"/>
              </a:ext>
            </a:extLst>
          </p:cNvPr>
          <p:cNvSpPr txBox="1"/>
          <p:nvPr/>
        </p:nvSpPr>
        <p:spPr>
          <a:xfrm>
            <a:off x="75054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the </a:t>
            </a:r>
            <a:r>
              <a:rPr lang="en-US" sz="1400" b="1" dirty="0">
                <a:solidFill>
                  <a:schemeClr val="tx2"/>
                </a:solidFill>
              </a:rPr>
              <a:t>elimination of the rinsing step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D7325D-5351-5B6C-14AA-B2B628C04FC7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3D3B0D-B0EF-717D-3726-52BC6E20AB9E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0D02C3-124B-F10E-4D96-E33A651B0C20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CEADD-626E-9953-2877-B9240CD1A123}"/>
              </a:ext>
            </a:extLst>
          </p:cNvPr>
          <p:cNvSpPr txBox="1"/>
          <p:nvPr/>
        </p:nvSpPr>
        <p:spPr>
          <a:xfrm>
            <a:off x="750540" y="4866076"/>
            <a:ext cx="35823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based on </a:t>
            </a:r>
            <a:r>
              <a:rPr lang="en-US" sz="1400" b="1" dirty="0">
                <a:solidFill>
                  <a:schemeClr val="tx2"/>
                </a:solidFill>
              </a:rPr>
              <a:t>the elimination of the floor rinsing step </a:t>
            </a:r>
            <a:r>
              <a:rPr lang="en-US" sz="1400" dirty="0"/>
              <a:t>following recommended use instructions.</a:t>
            </a:r>
          </a:p>
          <a:p>
            <a:endParaRPr lang="en-US" sz="1400" dirty="0"/>
          </a:p>
          <a:p>
            <a:r>
              <a:rPr lang="en-US" sz="1400" dirty="0"/>
              <a:t>From Ecolab testing, 29.1L of floor cleaner are used for floor cleaning a standard kitchen floor, and 37.9L of water are used for rinsing.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3A050B-46E4-16BC-1AE4-997893EB6173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1D4DEE-322F-3F60-3D3E-AE7A924CDD40}"/>
              </a:ext>
            </a:extLst>
          </p:cNvPr>
          <p:cNvSpPr txBox="1"/>
          <p:nvPr/>
        </p:nvSpPr>
        <p:spPr>
          <a:xfrm>
            <a:off x="498611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the </a:t>
            </a:r>
            <a:r>
              <a:rPr lang="en-US" sz="1400" b="1" dirty="0">
                <a:solidFill>
                  <a:schemeClr val="tx2"/>
                </a:solidFill>
              </a:rPr>
              <a:t>elimination of the rinsing step </a:t>
            </a:r>
            <a:r>
              <a:rPr lang="en-US" sz="1400" dirty="0"/>
              <a:t>and the use of </a:t>
            </a:r>
            <a:r>
              <a:rPr lang="en-US" sz="1400" b="1" dirty="0">
                <a:solidFill>
                  <a:schemeClr val="tx2"/>
                </a:solidFill>
              </a:rPr>
              <a:t>unheated water</a:t>
            </a:r>
            <a:r>
              <a:rPr lang="en-US" sz="14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2DE1BE-4C1F-95DE-2B22-F086C6C333E9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8DFF49-65D2-825E-CFF6-CD9059E5B595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48FCA1-DCF2-D344-55D7-3C1BFCA789B8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CA299F-BDEC-58A6-811C-8FFD6E75F7AA}"/>
              </a:ext>
            </a:extLst>
          </p:cNvPr>
          <p:cNvSpPr txBox="1"/>
          <p:nvPr/>
        </p:nvSpPr>
        <p:spPr>
          <a:xfrm>
            <a:off x="4986110" y="4866076"/>
            <a:ext cx="35823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estimated based on the </a:t>
            </a:r>
            <a:r>
              <a:rPr lang="en-US" sz="1400" b="1" dirty="0">
                <a:solidFill>
                  <a:schemeClr val="tx2"/>
                </a:solidFill>
              </a:rPr>
              <a:t>elimination of the rinsing step </a:t>
            </a:r>
            <a:r>
              <a:rPr lang="en-US" sz="1400" dirty="0"/>
              <a:t>and the </a:t>
            </a:r>
            <a:r>
              <a:rPr lang="en-US" sz="1400" b="1" dirty="0">
                <a:solidFill>
                  <a:schemeClr val="tx2"/>
                </a:solidFill>
              </a:rPr>
              <a:t>use of unheated water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Based on Ecolab testing, 29.1L of floor cleaner are used for floor cleaning a standard kitchen floor, and 37.9L of hot (60C / 140F) water are used for rinsing.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F2F9D9-DBCE-BF37-8617-2DD1752A0DBC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FE5926-FB6D-64D8-8BDD-D71C38953A05}"/>
              </a:ext>
            </a:extLst>
          </p:cNvPr>
          <p:cNvSpPr txBox="1"/>
          <p:nvPr/>
        </p:nvSpPr>
        <p:spPr>
          <a:xfrm>
            <a:off x="922168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is estimated to improve based on the </a:t>
            </a:r>
            <a:r>
              <a:rPr lang="en-US" sz="1400" b="1" dirty="0">
                <a:solidFill>
                  <a:schemeClr val="tx2"/>
                </a:solidFill>
              </a:rPr>
              <a:t>elimination of the rinsing step</a:t>
            </a:r>
            <a:r>
              <a:rPr lang="en-US" sz="14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69975-1373-E65A-4B7A-BB4439E55B88}"/>
              </a:ext>
            </a:extLst>
          </p:cNvPr>
          <p:cNvSpPr txBox="1"/>
          <p:nvPr/>
        </p:nvSpPr>
        <p:spPr>
          <a:xfrm>
            <a:off x="922168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1D986D-AA8C-18D7-0D3F-EB433A6CBC7F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477B4C-CC96-025C-0FA4-9B0E21948EC0}"/>
              </a:ext>
            </a:extLst>
          </p:cNvPr>
          <p:cNvSpPr txBox="1"/>
          <p:nvPr/>
        </p:nvSpPr>
        <p:spPr>
          <a:xfrm>
            <a:off x="922168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C6D3C0-04ED-0B11-7A4B-4EF697F4958D}"/>
              </a:ext>
            </a:extLst>
          </p:cNvPr>
          <p:cNvSpPr txBox="1"/>
          <p:nvPr/>
        </p:nvSpPr>
        <p:spPr>
          <a:xfrm>
            <a:off x="9221680" y="4866076"/>
            <a:ext cx="35823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based on </a:t>
            </a:r>
            <a:r>
              <a:rPr lang="en-US" sz="1400" b="1" dirty="0">
                <a:solidFill>
                  <a:schemeClr val="tx2"/>
                </a:solidFill>
              </a:rPr>
              <a:t>the elimination of the floor rinsing step </a:t>
            </a:r>
            <a:r>
              <a:rPr lang="en-US" sz="1400" dirty="0"/>
              <a:t>following recommended use instructions.</a:t>
            </a:r>
          </a:p>
          <a:p>
            <a:endParaRPr lang="en-US" sz="1400" dirty="0"/>
          </a:p>
          <a:p>
            <a:r>
              <a:rPr lang="en-US" sz="1400" dirty="0"/>
              <a:t>Based on Ecolab testing, 29.1L of floor cleaner is used when cleaning a standard kitchen floor, and rinse time is 1200 seconds.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AB808C-1CB2-315B-9CFE-55F93D8D55C5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1EC3C2-71D2-A2DC-B9E5-0E07A89F1A89}"/>
              </a:ext>
            </a:extLst>
          </p:cNvPr>
          <p:cNvSpPr txBox="1"/>
          <p:nvPr/>
        </p:nvSpPr>
        <p:spPr>
          <a:xfrm>
            <a:off x="13457250" y="3139146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is estimated to be reduced based on the </a:t>
            </a:r>
            <a:r>
              <a:rPr lang="en-US" sz="1400" b="1" dirty="0">
                <a:solidFill>
                  <a:schemeClr val="tx2"/>
                </a:solidFill>
              </a:rPr>
              <a:t>elimination of the rinsing step </a:t>
            </a:r>
            <a:r>
              <a:rPr lang="en-US" sz="1400" dirty="0"/>
              <a:t>and the use of </a:t>
            </a:r>
            <a:r>
              <a:rPr lang="en-US" sz="1400" b="1" dirty="0">
                <a:solidFill>
                  <a:schemeClr val="tx2"/>
                </a:solidFill>
              </a:rPr>
              <a:t>unheated water</a:t>
            </a:r>
            <a:r>
              <a:rPr lang="en-US" sz="14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C49847-1FF7-F9FB-68B7-4CEEBAA54AE2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6A03EC-EABB-D0A4-663B-7E998242A32A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919307-27BA-5696-8F70-033F77D67FEC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D65ADC-4175-FD52-0631-9B7A1535A8A5}"/>
              </a:ext>
            </a:extLst>
          </p:cNvPr>
          <p:cNvSpPr txBox="1"/>
          <p:nvPr/>
        </p:nvSpPr>
        <p:spPr>
          <a:xfrm>
            <a:off x="13457250" y="4866076"/>
            <a:ext cx="35823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estimated based on the </a:t>
            </a:r>
            <a:r>
              <a:rPr lang="en-US" sz="1400" b="1" dirty="0">
                <a:solidFill>
                  <a:schemeClr val="tx2"/>
                </a:solidFill>
              </a:rPr>
              <a:t>elimination of the rinsing step </a:t>
            </a:r>
            <a:r>
              <a:rPr lang="en-US" sz="1400" dirty="0"/>
              <a:t>and the </a:t>
            </a:r>
            <a:r>
              <a:rPr lang="en-US" sz="1400" b="1" dirty="0">
                <a:solidFill>
                  <a:schemeClr val="tx2"/>
                </a:solidFill>
              </a:rPr>
              <a:t>use of unheated water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Based on Ecolab testing 29.1L of floor cleaner are used for floor cleaning a standard kitchen floor, and 37.9L of hot (60C / 140F) water are used for rinsing. 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</a:t>
            </a:r>
            <a:r>
              <a:rPr lang="en-US" sz="1400" baseline="-25000" dirty="0"/>
              <a:t>2</a:t>
            </a:r>
            <a:r>
              <a:rPr lang="en-US" sz="1400" dirty="0"/>
              <a:t>/therm.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0CC0A6-A014-C91C-D506-DDBE837BBEAE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0CD869-1CEC-07C7-CD86-A0744BF53697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3BBB14-2629-030F-469A-DBB1926359BB}"/>
              </a:ext>
            </a:extLst>
          </p:cNvPr>
          <p:cNvCxnSpPr>
            <a:cxnSpLocks/>
          </p:cNvCxnSpPr>
          <p:nvPr/>
        </p:nvCxnSpPr>
        <p:spPr>
          <a:xfrm>
            <a:off x="924718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82F68F-CC22-1605-0BFE-98196E41D2C4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5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10C1-A36C-624D-9001-390D67B3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B6F841A-F80B-5848-22E0-F722A0548539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F36227-7597-1E89-A09B-F21DA0B9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Pre-Soak Products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C03D4-9432-6FFE-F854-EEBA46720C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AFEE72-33FC-4439-1EEA-BE1D559536C2}"/>
              </a:ext>
            </a:extLst>
          </p:cNvPr>
          <p:cNvSpPr txBox="1"/>
          <p:nvPr/>
        </p:nvSpPr>
        <p:spPr>
          <a:xfrm>
            <a:off x="75054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an </a:t>
            </a:r>
            <a:r>
              <a:rPr lang="en-US" sz="1400" b="1" dirty="0">
                <a:solidFill>
                  <a:schemeClr val="tx2"/>
                </a:solidFill>
              </a:rPr>
              <a:t>improvement in one-pass washing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271BA1-0F85-6082-E076-B6955A0D4C79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346563-FAFE-70DF-38A1-DE124ED13D7A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937A2D-4674-5EE0-F9A9-EBAF398C92DB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CED722-A3F8-3DED-700A-A9E0E78273A9}"/>
              </a:ext>
            </a:extLst>
          </p:cNvPr>
          <p:cNvSpPr txBox="1"/>
          <p:nvPr/>
        </p:nvSpPr>
        <p:spPr>
          <a:xfrm>
            <a:off x="750540" y="486607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based on </a:t>
            </a:r>
            <a:r>
              <a:rPr lang="en-US" sz="1400" b="1" dirty="0">
                <a:solidFill>
                  <a:schemeClr val="tx2"/>
                </a:solidFill>
              </a:rPr>
              <a:t>a reduction in rewash of wares</a:t>
            </a:r>
            <a:r>
              <a:rPr lang="en-US" sz="1400" dirty="0"/>
              <a:t> through the dishmachine due to </a:t>
            </a:r>
            <a:r>
              <a:rPr lang="en-US" sz="1400" b="1" dirty="0">
                <a:solidFill>
                  <a:schemeClr val="tx2"/>
                </a:solidFill>
              </a:rPr>
              <a:t>more effective cleaning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Based on 2009 Ecolab lab testing, using Smartpower Pre-Soak to pre-soak gets flatware clean in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 dish machine cycles verses </a:t>
            </a:r>
            <a:r>
              <a:rPr lang="en-US" sz="1400" b="1" dirty="0">
                <a:solidFill>
                  <a:schemeClr val="tx2"/>
                </a:solidFill>
              </a:rPr>
              <a:t>4</a:t>
            </a:r>
            <a:r>
              <a:rPr lang="en-US" sz="1400" dirty="0"/>
              <a:t> cycles when using </a:t>
            </a:r>
            <a:r>
              <a:rPr lang="en-US" sz="1400" dirty="0" err="1"/>
              <a:t>Pantastic</a:t>
            </a:r>
            <a:r>
              <a:rPr lang="en-US" sz="1400" dirty="0"/>
              <a:t> to pre-soak. </a:t>
            </a:r>
          </a:p>
          <a:p>
            <a:endParaRPr lang="en-US" sz="1400" dirty="0"/>
          </a:p>
          <a:p>
            <a:r>
              <a:rPr lang="en-US" sz="1400" dirty="0"/>
              <a:t>Hot water usage per rack of dishes run is on average 3.79L with a temperature of 60C (140F) from a 10C (50F) water input.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CFB5E0-2965-286C-55C4-0805FF289C24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B86351-C3EE-79CD-D11B-91AAAA89DBD4}"/>
              </a:ext>
            </a:extLst>
          </p:cNvPr>
          <p:cNvSpPr txBox="1"/>
          <p:nvPr/>
        </p:nvSpPr>
        <p:spPr>
          <a:xfrm>
            <a:off x="498611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an </a:t>
            </a:r>
            <a:r>
              <a:rPr lang="en-US" sz="1400" b="1" dirty="0">
                <a:solidFill>
                  <a:schemeClr val="tx2"/>
                </a:solidFill>
              </a:rPr>
              <a:t>improvement in one-pass washing</a:t>
            </a:r>
            <a:r>
              <a:rPr lang="en-US" sz="1400" dirty="0"/>
              <a:t>.</a:t>
            </a:r>
          </a:p>
          <a:p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47CC75-70BF-5D91-D590-52B9A9831E5E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0AA76C-A6BB-440B-50E5-4607FD1802BC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4809D4-FD64-7122-F315-DF26D035BD49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A67E6C-DA15-7FCC-71C5-4D2487D45640}"/>
              </a:ext>
            </a:extLst>
          </p:cNvPr>
          <p:cNvSpPr txBox="1"/>
          <p:nvPr/>
        </p:nvSpPr>
        <p:spPr>
          <a:xfrm>
            <a:off x="4986110" y="486607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estimated based on </a:t>
            </a:r>
            <a:r>
              <a:rPr lang="en-US" sz="1400" b="1" dirty="0">
                <a:solidFill>
                  <a:schemeClr val="tx2"/>
                </a:solidFill>
              </a:rPr>
              <a:t>a reduction in rewash of wares</a:t>
            </a:r>
            <a:r>
              <a:rPr lang="en-US" sz="1400" dirty="0"/>
              <a:t> through the dishmachine due to </a:t>
            </a:r>
            <a:r>
              <a:rPr lang="en-US" sz="1400" b="1" dirty="0">
                <a:solidFill>
                  <a:schemeClr val="tx2"/>
                </a:solidFill>
              </a:rPr>
              <a:t>more effective cleaning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Based on 2009 Ecolab lab testing, using Smartpower Pre-Soak to pre-soak gets flatware clean in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 dish machine cycles verses </a:t>
            </a:r>
            <a:r>
              <a:rPr lang="en-US" sz="1400" b="1" dirty="0">
                <a:solidFill>
                  <a:schemeClr val="tx2"/>
                </a:solidFill>
              </a:rPr>
              <a:t>4</a:t>
            </a:r>
            <a:r>
              <a:rPr lang="en-US" sz="1400" dirty="0"/>
              <a:t> cycles when using </a:t>
            </a:r>
            <a:r>
              <a:rPr lang="en-US" sz="1400" dirty="0" err="1"/>
              <a:t>Pantastic</a:t>
            </a:r>
            <a:r>
              <a:rPr lang="en-US" sz="1400" dirty="0"/>
              <a:t> to pre-soak. </a:t>
            </a:r>
          </a:p>
          <a:p>
            <a:endParaRPr lang="en-US" sz="1400" dirty="0"/>
          </a:p>
          <a:p>
            <a:r>
              <a:rPr lang="en-US" sz="1400" dirty="0"/>
              <a:t>Hot water usage per rack of dishes run is on average 3.79L with a temperature of 60C (140F) from a 10C (50F) water input.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4515D4-E96F-5946-AD63-3A2CC336CC33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A6030C-1DA0-8C4E-ECE4-E6EE7E17F7FC}"/>
              </a:ext>
            </a:extLst>
          </p:cNvPr>
          <p:cNvSpPr txBox="1"/>
          <p:nvPr/>
        </p:nvSpPr>
        <p:spPr>
          <a:xfrm>
            <a:off x="922168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is estimated to improve based on a </a:t>
            </a:r>
            <a:r>
              <a:rPr lang="en-US" sz="1400" b="1" dirty="0">
                <a:solidFill>
                  <a:schemeClr val="tx2"/>
                </a:solidFill>
              </a:rPr>
              <a:t>reduction in hand polishing time </a:t>
            </a:r>
            <a:r>
              <a:rPr lang="en-US" sz="1400" dirty="0"/>
              <a:t>as well as a </a:t>
            </a:r>
            <a:r>
              <a:rPr lang="en-US" sz="1400" b="1" dirty="0">
                <a:solidFill>
                  <a:schemeClr val="tx2"/>
                </a:solidFill>
              </a:rPr>
              <a:t>reduction in racks run</a:t>
            </a:r>
            <a:r>
              <a:rPr lang="en-US" sz="14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36DC57-9924-4FB4-3CFF-5912AB99626A}"/>
              </a:ext>
            </a:extLst>
          </p:cNvPr>
          <p:cNvSpPr txBox="1"/>
          <p:nvPr/>
        </p:nvSpPr>
        <p:spPr>
          <a:xfrm>
            <a:off x="922168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6030ED-0CC1-1AA1-B16D-E7FCB2011C24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F51075-6163-39E3-1155-2FDFC0E2AD94}"/>
              </a:ext>
            </a:extLst>
          </p:cNvPr>
          <p:cNvSpPr txBox="1"/>
          <p:nvPr/>
        </p:nvSpPr>
        <p:spPr>
          <a:xfrm>
            <a:off x="922168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5DED97-1FBA-42F3-5D97-27C68F8A9EB9}"/>
              </a:ext>
            </a:extLst>
          </p:cNvPr>
          <p:cNvSpPr txBox="1"/>
          <p:nvPr/>
        </p:nvSpPr>
        <p:spPr>
          <a:xfrm>
            <a:off x="9221680" y="486607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based on a </a:t>
            </a:r>
            <a:r>
              <a:rPr lang="en-US" sz="1400" b="1" dirty="0">
                <a:solidFill>
                  <a:schemeClr val="tx2"/>
                </a:solidFill>
              </a:rPr>
              <a:t>reduction in rewash of wares </a:t>
            </a:r>
            <a:r>
              <a:rPr lang="en-US" sz="1400" dirty="0"/>
              <a:t>through the dishmachine due to </a:t>
            </a:r>
            <a:r>
              <a:rPr lang="en-US" sz="1400" b="1" dirty="0">
                <a:solidFill>
                  <a:schemeClr val="tx2"/>
                </a:solidFill>
              </a:rPr>
              <a:t>more effective cleaning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Based on 2009 Ecolab lab testing, using Smartpower Pre-Soak to pre-soak gets flatware clean in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 dish machine cycles verses </a:t>
            </a:r>
            <a:r>
              <a:rPr lang="en-US" sz="1400" b="1" dirty="0">
                <a:solidFill>
                  <a:schemeClr val="tx2"/>
                </a:solidFill>
              </a:rPr>
              <a:t>4</a:t>
            </a:r>
            <a:r>
              <a:rPr lang="en-US" sz="1400" dirty="0"/>
              <a:t> cycles when using </a:t>
            </a:r>
            <a:r>
              <a:rPr lang="en-US" sz="1400" dirty="0" err="1"/>
              <a:t>Pantastic</a:t>
            </a:r>
            <a:r>
              <a:rPr lang="en-US" sz="1400" dirty="0"/>
              <a:t> to pre-soak.</a:t>
            </a:r>
          </a:p>
          <a:p>
            <a:endParaRPr lang="en-US" sz="1400" dirty="0"/>
          </a:p>
          <a:p>
            <a:r>
              <a:rPr lang="en-US" sz="1400" dirty="0"/>
              <a:t>Eliminated rack re-processing and polishing estimated at </a:t>
            </a:r>
            <a:r>
              <a:rPr lang="en-US" sz="1400" b="1" dirty="0">
                <a:solidFill>
                  <a:schemeClr val="tx2"/>
                </a:solidFill>
              </a:rPr>
              <a:t>15 seconds </a:t>
            </a:r>
            <a:r>
              <a:rPr lang="en-US" sz="1400" dirty="0"/>
              <a:t>per rack.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2439FD-9FF5-15FA-981B-580DACEE093B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3B6830-5F6C-766B-5747-14A2E308EFEB}"/>
              </a:ext>
            </a:extLst>
          </p:cNvPr>
          <p:cNvSpPr txBox="1"/>
          <p:nvPr/>
        </p:nvSpPr>
        <p:spPr>
          <a:xfrm>
            <a:off x="1345725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is estimated to be reduced based on an </a:t>
            </a:r>
            <a:r>
              <a:rPr lang="en-US" sz="1400" b="1" dirty="0">
                <a:solidFill>
                  <a:schemeClr val="tx2"/>
                </a:solidFill>
              </a:rPr>
              <a:t>improvement in one-pass washing</a:t>
            </a:r>
            <a:r>
              <a:rPr lang="en-US" sz="14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FED9EC-F1FD-526E-6AFF-7C1370A7EA03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5451E9-0EFB-CB49-09C8-EAC02A3393F4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99FF07-1FA6-4FD5-1B9C-9C4285AB933A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82FD2E-0E16-2B0A-E30F-DDDDBFE8DB01}"/>
              </a:ext>
            </a:extLst>
          </p:cNvPr>
          <p:cNvSpPr txBox="1"/>
          <p:nvPr/>
        </p:nvSpPr>
        <p:spPr>
          <a:xfrm>
            <a:off x="13457250" y="4866076"/>
            <a:ext cx="35823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estimated based on a </a:t>
            </a:r>
            <a:r>
              <a:rPr lang="en-US" sz="1400" b="1" dirty="0">
                <a:solidFill>
                  <a:schemeClr val="tx2"/>
                </a:solidFill>
              </a:rPr>
              <a:t>reduction in rewash of wares </a:t>
            </a:r>
            <a:r>
              <a:rPr lang="en-US" sz="1400" dirty="0"/>
              <a:t>through the dishmachine due to </a:t>
            </a:r>
            <a:r>
              <a:rPr lang="en-US" sz="1400" b="1" dirty="0">
                <a:solidFill>
                  <a:schemeClr val="tx2"/>
                </a:solidFill>
              </a:rPr>
              <a:t>more effective cleaning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Based on 2009 Ecolab lab testing, using Smartpower Pre-Soak to pre-soak gets flatware clean in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 dish machine cycles verses </a:t>
            </a:r>
            <a:r>
              <a:rPr lang="en-US" sz="1400" b="1" dirty="0">
                <a:solidFill>
                  <a:schemeClr val="tx2"/>
                </a:solidFill>
              </a:rPr>
              <a:t>4</a:t>
            </a:r>
            <a:r>
              <a:rPr lang="en-US" sz="1400" dirty="0"/>
              <a:t> cycles when using </a:t>
            </a:r>
            <a:r>
              <a:rPr lang="en-US" sz="1400" dirty="0" err="1"/>
              <a:t>Pantastic</a:t>
            </a:r>
            <a:r>
              <a:rPr lang="en-US" sz="1400" dirty="0"/>
              <a:t> to pre-soak.</a:t>
            </a:r>
          </a:p>
          <a:p>
            <a:endParaRPr lang="en-US" sz="1400" dirty="0"/>
          </a:p>
          <a:p>
            <a:r>
              <a:rPr lang="en-US" sz="1400" dirty="0"/>
              <a:t>Hot water usage per rack of dishes run is on average 3.79L with a temperature of 60C (140F) from a 10C (50F) water input.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</a:t>
            </a:r>
            <a:r>
              <a:rPr lang="en-US" sz="1400" baseline="-25000" dirty="0"/>
              <a:t>2</a:t>
            </a:r>
            <a:r>
              <a:rPr lang="en-US" sz="1400" dirty="0"/>
              <a:t>/therm.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BB2348-A882-5632-F960-A9C306A354EE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2AD9A5-A77C-6601-28AD-4CCF68A308F3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F9185E-C834-7F9B-BFBF-B13622C4678B}"/>
              </a:ext>
            </a:extLst>
          </p:cNvPr>
          <p:cNvCxnSpPr>
            <a:cxnSpLocks/>
          </p:cNvCxnSpPr>
          <p:nvPr/>
        </p:nvCxnSpPr>
        <p:spPr>
          <a:xfrm>
            <a:off x="924718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F7C02F-09A5-9ED4-C523-AE3182E2EFC8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95AEFB4-2569-FF82-4FAD-BCED45131116}"/>
              </a:ext>
            </a:extLst>
          </p:cNvPr>
          <p:cNvSpPr txBox="1"/>
          <p:nvPr/>
        </p:nvSpPr>
        <p:spPr>
          <a:xfrm>
            <a:off x="11611853" y="811063"/>
            <a:ext cx="5679529" cy="58477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The pre-soak soaking tub is assumed to be 7.57L with a presoaking capacity of 5 racks of flatware soaked per tub.</a:t>
            </a:r>
          </a:p>
        </p:txBody>
      </p:sp>
    </p:spTree>
    <p:extLst>
      <p:ext uri="{BB962C8B-B14F-4D97-AF65-F5344CB8AC3E}">
        <p14:creationId xmlns:p14="http://schemas.microsoft.com/office/powerpoint/2010/main" val="101174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B782-9547-CF2F-AB65-DD78C35B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37C53CE-3B1C-9072-0DB2-29C536975EB6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307629-BCE1-37B1-D5FA-E315730F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Laundry – </a:t>
            </a:r>
            <a:r>
              <a:rPr lang="en-SG" dirty="0" err="1"/>
              <a:t>Aquanomics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972F0F-D5CE-2259-1936-E8A87F01749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C0522A-E965-E656-0C3F-B6721E9CF503}"/>
              </a:ext>
            </a:extLst>
          </p:cNvPr>
          <p:cNvSpPr txBox="1"/>
          <p:nvPr/>
        </p:nvSpPr>
        <p:spPr>
          <a:xfrm>
            <a:off x="750540" y="2971999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</a:t>
            </a:r>
            <a:r>
              <a:rPr lang="en-US" sz="1400" b="1" dirty="0">
                <a:solidFill>
                  <a:schemeClr val="tx2"/>
                </a:solidFill>
              </a:rPr>
              <a:t>a reduction in reclaim as well as a switch to </a:t>
            </a:r>
            <a:r>
              <a:rPr lang="en-US" sz="1400" b="1" dirty="0" err="1">
                <a:solidFill>
                  <a:schemeClr val="tx2"/>
                </a:solidFill>
              </a:rPr>
              <a:t>SmartWash</a:t>
            </a:r>
            <a:r>
              <a:rPr lang="en-US" sz="1400" b="1" dirty="0">
                <a:solidFill>
                  <a:schemeClr val="tx2"/>
                </a:solidFill>
              </a:rPr>
              <a:t> formulas.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932A1-6802-5C7A-FC92-798C48D99335}"/>
              </a:ext>
            </a:extLst>
          </p:cNvPr>
          <p:cNvSpPr txBox="1"/>
          <p:nvPr/>
        </p:nvSpPr>
        <p:spPr>
          <a:xfrm>
            <a:off x="750540" y="2564632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8CA754-DE73-15B3-31CD-BC67486DB484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7A6E6D-6616-FCE1-C7A9-A55363131209}"/>
              </a:ext>
            </a:extLst>
          </p:cNvPr>
          <p:cNvSpPr txBox="1"/>
          <p:nvPr/>
        </p:nvSpPr>
        <p:spPr>
          <a:xfrm>
            <a:off x="750540" y="418703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446156-D2D0-9366-CED2-3B762FB1F3CF}"/>
              </a:ext>
            </a:extLst>
          </p:cNvPr>
          <p:cNvSpPr txBox="1"/>
          <p:nvPr/>
        </p:nvSpPr>
        <p:spPr>
          <a:xfrm>
            <a:off x="750540" y="4587146"/>
            <a:ext cx="358239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based on transition from using traditional wash formulas to </a:t>
            </a:r>
            <a:r>
              <a:rPr lang="en-US" sz="1400" dirty="0" err="1"/>
              <a:t>Aquanomics</a:t>
            </a:r>
            <a:r>
              <a:rPr lang="en-US" sz="1400" dirty="0"/>
              <a:t> Ecolab </a:t>
            </a:r>
            <a:r>
              <a:rPr lang="en-US" sz="1400" dirty="0" err="1"/>
              <a:t>SmartWash</a:t>
            </a:r>
            <a:r>
              <a:rPr lang="en-US" sz="1400" dirty="0"/>
              <a:t> formulas. </a:t>
            </a:r>
          </a:p>
          <a:p>
            <a:endParaRPr lang="en-US" sz="1400" dirty="0"/>
          </a:p>
          <a:p>
            <a:r>
              <a:rPr lang="en-US" sz="1400" dirty="0"/>
              <a:t>This assumes a reduction in water usage from Ecolab </a:t>
            </a:r>
            <a:r>
              <a:rPr lang="en-US" sz="1400" dirty="0" err="1"/>
              <a:t>Smartwash</a:t>
            </a:r>
            <a:r>
              <a:rPr lang="en-US" sz="1400" dirty="0"/>
              <a:t> formulas and a 2% reduction in total loads run due to better stain removal and fewer reclaim loads. The Ecolab </a:t>
            </a:r>
            <a:r>
              <a:rPr lang="en-US" sz="1400" dirty="0" err="1"/>
              <a:t>Smartwash</a:t>
            </a:r>
            <a:r>
              <a:rPr lang="en-US" sz="1400" dirty="0"/>
              <a:t> formulas use approximately </a:t>
            </a:r>
            <a:r>
              <a:rPr lang="en-US" sz="1400" b="1" dirty="0">
                <a:solidFill>
                  <a:schemeClr val="tx2"/>
                </a:solidFill>
              </a:rPr>
              <a:t>40% less water than a traditional laundry cycle</a:t>
            </a:r>
            <a:r>
              <a:rPr lang="en-US" sz="1400" dirty="0"/>
              <a:t> (503 L vs 810 L based on Ecolab recommended wash cycles). </a:t>
            </a:r>
          </a:p>
          <a:p>
            <a:endParaRPr lang="en-US" sz="1400" dirty="0"/>
          </a:p>
          <a:p>
            <a:r>
              <a:rPr lang="en-US" sz="1400" dirty="0"/>
              <a:t>Reclaim reduction is calculated based on an Ecolab study which showed AQUANOMIC 2.0 LOW TEMP LAUNDRY DETERGENT provided a 3% overall reclaim rate vs. an industry average of 5%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524103-981C-9512-B614-A44182988DAF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F77687-D470-D865-524E-C339B1B7D4E0}"/>
              </a:ext>
            </a:extLst>
          </p:cNvPr>
          <p:cNvSpPr txBox="1"/>
          <p:nvPr/>
        </p:nvSpPr>
        <p:spPr>
          <a:xfrm>
            <a:off x="4986110" y="2971999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</a:t>
            </a:r>
            <a:r>
              <a:rPr lang="en-US" sz="1400" b="1" dirty="0">
                <a:solidFill>
                  <a:schemeClr val="tx2"/>
                </a:solidFill>
              </a:rPr>
              <a:t>a reduction in reclaim as well as a switch to </a:t>
            </a:r>
            <a:r>
              <a:rPr lang="en-US" sz="1400" b="1" dirty="0" err="1">
                <a:solidFill>
                  <a:schemeClr val="tx2"/>
                </a:solidFill>
              </a:rPr>
              <a:t>SmartWash</a:t>
            </a:r>
            <a:r>
              <a:rPr lang="en-US" sz="1400" b="1" dirty="0">
                <a:solidFill>
                  <a:schemeClr val="tx2"/>
                </a:solidFill>
              </a:rPr>
              <a:t> formulas.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1A43B4-8060-6FE1-5F2A-EB51725D2747}"/>
              </a:ext>
            </a:extLst>
          </p:cNvPr>
          <p:cNvSpPr txBox="1"/>
          <p:nvPr/>
        </p:nvSpPr>
        <p:spPr>
          <a:xfrm>
            <a:off x="4986110" y="2564632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887600-0201-8EC0-5CEB-8E0090503CD4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C9AC10-3487-F49E-22CE-9770A48D0D72}"/>
              </a:ext>
            </a:extLst>
          </p:cNvPr>
          <p:cNvSpPr txBox="1"/>
          <p:nvPr/>
        </p:nvSpPr>
        <p:spPr>
          <a:xfrm>
            <a:off x="4986110" y="418703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13F1B1-494E-C33F-A360-2EE2C1655C67}"/>
              </a:ext>
            </a:extLst>
          </p:cNvPr>
          <p:cNvSpPr txBox="1"/>
          <p:nvPr/>
        </p:nvSpPr>
        <p:spPr>
          <a:xfrm>
            <a:off x="4986110" y="4587146"/>
            <a:ext cx="35823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estimated based on transition from using traditional wash formulas to </a:t>
            </a:r>
            <a:r>
              <a:rPr lang="en-US" sz="1400" dirty="0" err="1"/>
              <a:t>Aquanomics</a:t>
            </a:r>
            <a:r>
              <a:rPr lang="en-US" sz="1400" dirty="0"/>
              <a:t> Ecolab </a:t>
            </a:r>
            <a:r>
              <a:rPr lang="en-US" sz="1400" dirty="0" err="1"/>
              <a:t>SmartWash</a:t>
            </a:r>
            <a:r>
              <a:rPr lang="en-US" sz="1400" dirty="0"/>
              <a:t> formulas.</a:t>
            </a:r>
          </a:p>
          <a:p>
            <a:endParaRPr lang="en-US" sz="1400" dirty="0"/>
          </a:p>
          <a:p>
            <a:r>
              <a:rPr lang="en-US" sz="1400" dirty="0"/>
              <a:t>This assumes a reduction in energy usage from Ecolab </a:t>
            </a:r>
            <a:r>
              <a:rPr lang="en-US" sz="1400" dirty="0" err="1"/>
              <a:t>Smartwash</a:t>
            </a:r>
            <a:r>
              <a:rPr lang="en-US" sz="1400" dirty="0"/>
              <a:t> formulas and a 2% reduction in total loads run due to better stain removal and fewer reclaim loads. The Ecolab </a:t>
            </a:r>
            <a:r>
              <a:rPr lang="en-US" sz="1400" dirty="0" err="1"/>
              <a:t>Smartwash</a:t>
            </a:r>
            <a:r>
              <a:rPr lang="en-US" sz="1400" dirty="0"/>
              <a:t> formulas use approximately </a:t>
            </a:r>
            <a:r>
              <a:rPr lang="en-US" sz="1400" b="1" dirty="0">
                <a:solidFill>
                  <a:schemeClr val="tx2"/>
                </a:solidFill>
              </a:rPr>
              <a:t>50% less energy than a traditional laundry cycle </a:t>
            </a:r>
            <a:r>
              <a:rPr lang="en-US" sz="1400" dirty="0"/>
              <a:t>(0.43 </a:t>
            </a:r>
            <a:r>
              <a:rPr lang="en-US" sz="1400" dirty="0" err="1"/>
              <a:t>therms</a:t>
            </a:r>
            <a:r>
              <a:rPr lang="en-US" sz="1400" dirty="0"/>
              <a:t> vs 0.97 </a:t>
            </a:r>
            <a:r>
              <a:rPr lang="en-US" sz="1400" dirty="0" err="1"/>
              <a:t>therms</a:t>
            </a:r>
            <a:r>
              <a:rPr lang="en-US" sz="1400" dirty="0"/>
              <a:t> based on Ecolab recommended wash cycles). </a:t>
            </a:r>
          </a:p>
          <a:p>
            <a:endParaRPr lang="en-US" sz="1400" dirty="0"/>
          </a:p>
          <a:p>
            <a:r>
              <a:rPr lang="en-US" sz="1400" dirty="0"/>
              <a:t>Reclaim reduction is calculated based on an Ecolab study which showed AQUANOMIC 2.0 LOW TEMP LAUNDRY DETERGENT provided a 3% overall reclaim rate vs. an industry average of 5%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68B44D-4EFA-FEF8-A94D-360902DFB5EC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572E10-CF58-4CAC-63A4-805CB4C2406D}"/>
              </a:ext>
            </a:extLst>
          </p:cNvPr>
          <p:cNvSpPr txBox="1"/>
          <p:nvPr/>
        </p:nvSpPr>
        <p:spPr>
          <a:xfrm>
            <a:off x="9221680" y="2971999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is estimated to improve based on a </a:t>
            </a:r>
            <a:r>
              <a:rPr lang="en-US" sz="1400" b="1" dirty="0">
                <a:solidFill>
                  <a:schemeClr val="tx2"/>
                </a:solidFill>
              </a:rPr>
              <a:t>reduction in reclaim.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E6EBD5-ECCC-7371-57FA-9A0691D3FACB}"/>
              </a:ext>
            </a:extLst>
          </p:cNvPr>
          <p:cNvSpPr txBox="1"/>
          <p:nvPr/>
        </p:nvSpPr>
        <p:spPr>
          <a:xfrm>
            <a:off x="9221680" y="2564632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BD1DBC-E6F0-6B08-4EB4-25A05601DB42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7B6D00-9AA4-0193-1849-86E60BA55E2D}"/>
              </a:ext>
            </a:extLst>
          </p:cNvPr>
          <p:cNvSpPr txBox="1"/>
          <p:nvPr/>
        </p:nvSpPr>
        <p:spPr>
          <a:xfrm>
            <a:off x="9221680" y="418703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06762B-534F-7074-65C9-BF7B412955B0}"/>
              </a:ext>
            </a:extLst>
          </p:cNvPr>
          <p:cNvSpPr txBox="1"/>
          <p:nvPr/>
        </p:nvSpPr>
        <p:spPr>
          <a:xfrm>
            <a:off x="9221680" y="458714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due to an estimated </a:t>
            </a:r>
            <a:r>
              <a:rPr lang="en-US" sz="1400" b="1" dirty="0">
                <a:solidFill>
                  <a:schemeClr val="tx2"/>
                </a:solidFill>
              </a:rPr>
              <a:t>2% reduction in total loads run due to better stain removal and fewer reclaim loads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Reclaim reduction is calculated based on an Ecolab study which showed AQUANOMIC 2.0 LOW TEMP LAUNDRY DETERGENT provided a 3% overall reclaim rate vs. an industry average of 5%.</a:t>
            </a:r>
          </a:p>
          <a:p>
            <a:endParaRPr lang="en-US" sz="1400" dirty="0"/>
          </a:p>
          <a:p>
            <a:r>
              <a:rPr lang="en-US" sz="1400" dirty="0"/>
              <a:t>Each laundry cycle takes an estimated 1.3 hours of run time based on Ecolab recommended wash cycles.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9DC245-6F23-04F9-11C8-5234DF7B58BE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0BD767-C6C0-F1FD-DF2F-CFF9712D6CD6}"/>
              </a:ext>
            </a:extLst>
          </p:cNvPr>
          <p:cNvSpPr txBox="1"/>
          <p:nvPr/>
        </p:nvSpPr>
        <p:spPr>
          <a:xfrm>
            <a:off x="13457250" y="2971999"/>
            <a:ext cx="3582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is estimated to be reduced based on </a:t>
            </a:r>
            <a:r>
              <a:rPr lang="en-US" sz="1400" b="1" dirty="0">
                <a:solidFill>
                  <a:schemeClr val="tx2"/>
                </a:solidFill>
              </a:rPr>
              <a:t>a reduction in reclaim as well as a switch to </a:t>
            </a:r>
            <a:r>
              <a:rPr lang="en-US" sz="1400" b="1" dirty="0" err="1">
                <a:solidFill>
                  <a:schemeClr val="tx2"/>
                </a:solidFill>
              </a:rPr>
              <a:t>SmartWash</a:t>
            </a:r>
            <a:r>
              <a:rPr lang="en-US" sz="1400" b="1" dirty="0">
                <a:solidFill>
                  <a:schemeClr val="tx2"/>
                </a:solidFill>
              </a:rPr>
              <a:t> formulas.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086608-AF64-5466-9FC6-D4E010B5BB04}"/>
              </a:ext>
            </a:extLst>
          </p:cNvPr>
          <p:cNvSpPr txBox="1"/>
          <p:nvPr/>
        </p:nvSpPr>
        <p:spPr>
          <a:xfrm>
            <a:off x="13457250" y="2564632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9AAF24-A884-27CD-6258-3BB947A77223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E7A196-418F-E415-5BE2-F2E577591416}"/>
              </a:ext>
            </a:extLst>
          </p:cNvPr>
          <p:cNvSpPr txBox="1"/>
          <p:nvPr/>
        </p:nvSpPr>
        <p:spPr>
          <a:xfrm>
            <a:off x="13457250" y="418703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EB83E0-EF2C-9C13-9438-BA4E45624F7A}"/>
              </a:ext>
            </a:extLst>
          </p:cNvPr>
          <p:cNvSpPr txBox="1"/>
          <p:nvPr/>
        </p:nvSpPr>
        <p:spPr>
          <a:xfrm>
            <a:off x="13457250" y="4587146"/>
            <a:ext cx="35823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estimated based on transition from using traditional wash formulas to </a:t>
            </a:r>
            <a:r>
              <a:rPr lang="en-US" sz="1400" dirty="0" err="1"/>
              <a:t>Aquanomics</a:t>
            </a:r>
            <a:r>
              <a:rPr lang="en-US" sz="1400" dirty="0"/>
              <a:t> Ecolab </a:t>
            </a:r>
            <a:r>
              <a:rPr lang="en-US" sz="1400" dirty="0" err="1"/>
              <a:t>SmartWash</a:t>
            </a:r>
            <a:r>
              <a:rPr lang="en-US" sz="1400" dirty="0"/>
              <a:t> formulas.</a:t>
            </a:r>
          </a:p>
          <a:p>
            <a:endParaRPr lang="en-US" sz="1400" dirty="0"/>
          </a:p>
          <a:p>
            <a:r>
              <a:rPr lang="en-US" sz="1400" dirty="0"/>
              <a:t>This assumes a reduction in energy usage from Ecolab </a:t>
            </a:r>
            <a:r>
              <a:rPr lang="en-US" sz="1400" dirty="0" err="1"/>
              <a:t>Smartwash</a:t>
            </a:r>
            <a:r>
              <a:rPr lang="en-US" sz="1400" dirty="0"/>
              <a:t> formulas and a 2% reduction in total loads run due to better stain removal and fewer reclaim loads. The Ecolab </a:t>
            </a:r>
            <a:r>
              <a:rPr lang="en-US" sz="1400" dirty="0" err="1"/>
              <a:t>Smartwash</a:t>
            </a:r>
            <a:r>
              <a:rPr lang="en-US" sz="1400" dirty="0"/>
              <a:t> formulas use approximately </a:t>
            </a:r>
            <a:r>
              <a:rPr lang="en-US" sz="1400" b="1" dirty="0">
                <a:solidFill>
                  <a:schemeClr val="tx2"/>
                </a:solidFill>
              </a:rPr>
              <a:t>50% less energy than a traditional laundry cycle </a:t>
            </a:r>
            <a:r>
              <a:rPr lang="en-US" sz="1400" dirty="0"/>
              <a:t>(0.43 </a:t>
            </a:r>
            <a:r>
              <a:rPr lang="en-US" sz="1400" dirty="0" err="1"/>
              <a:t>therms</a:t>
            </a:r>
            <a:r>
              <a:rPr lang="en-US" sz="1400" dirty="0"/>
              <a:t> vs 0.97 </a:t>
            </a:r>
            <a:r>
              <a:rPr lang="en-US" sz="1400" dirty="0" err="1"/>
              <a:t>therms</a:t>
            </a:r>
            <a:r>
              <a:rPr lang="en-US" sz="1400" dirty="0"/>
              <a:t> based on Ecolab recommended wash cycles).</a:t>
            </a:r>
          </a:p>
          <a:p>
            <a:endParaRPr lang="en-US" sz="1400" dirty="0"/>
          </a:p>
          <a:p>
            <a:r>
              <a:rPr lang="en-US" sz="1400" dirty="0"/>
              <a:t>Reclaim reduction is calculated based on an Ecolab study which showed AQUANOMIC 2.0 LOW TEMP LAUNDRY DETERGENT provided a 3% overall reclaim rate vs. an industry average of 5%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37C2CD-DDFA-E001-A808-43FB0C7E8FD5}"/>
              </a:ext>
            </a:extLst>
          </p:cNvPr>
          <p:cNvCxnSpPr>
            <a:cxnSpLocks/>
          </p:cNvCxnSpPr>
          <p:nvPr/>
        </p:nvCxnSpPr>
        <p:spPr>
          <a:xfrm>
            <a:off x="776049" y="4014155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647035-3FA1-6DAE-6815-91EB6466EE81}"/>
              </a:ext>
            </a:extLst>
          </p:cNvPr>
          <p:cNvCxnSpPr>
            <a:cxnSpLocks/>
          </p:cNvCxnSpPr>
          <p:nvPr/>
        </p:nvCxnSpPr>
        <p:spPr>
          <a:xfrm>
            <a:off x="5011619" y="4014155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DAF3E9-948A-20C6-C5DA-D8A514CDC55E}"/>
              </a:ext>
            </a:extLst>
          </p:cNvPr>
          <p:cNvCxnSpPr>
            <a:cxnSpLocks/>
          </p:cNvCxnSpPr>
          <p:nvPr/>
        </p:nvCxnSpPr>
        <p:spPr>
          <a:xfrm>
            <a:off x="9247189" y="4014155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AF097D-3BFA-2699-646F-5D134F0A3615}"/>
              </a:ext>
            </a:extLst>
          </p:cNvPr>
          <p:cNvCxnSpPr>
            <a:cxnSpLocks/>
          </p:cNvCxnSpPr>
          <p:nvPr/>
        </p:nvCxnSpPr>
        <p:spPr>
          <a:xfrm>
            <a:off x="13482759" y="4014155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30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A0B1F-05FC-9A22-5B71-2CB92D2F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85F6DD3-F578-D00E-73CD-D0DEE9CD5D62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783764-D623-3C0F-D7D4-0DD7D149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Laundry – Standard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57E05-8646-AEDA-BB8A-EF547396AD5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6A550A-B17C-2217-4A85-232E08916E2F}"/>
              </a:ext>
            </a:extLst>
          </p:cNvPr>
          <p:cNvSpPr txBox="1"/>
          <p:nvPr/>
        </p:nvSpPr>
        <p:spPr>
          <a:xfrm>
            <a:off x="75054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a </a:t>
            </a:r>
            <a:r>
              <a:rPr lang="en-US" sz="1400" b="1" dirty="0">
                <a:solidFill>
                  <a:schemeClr val="tx2"/>
                </a:solidFill>
              </a:rPr>
              <a:t>reduction in reclaim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F16F28-4885-5FC6-19A2-B25B19AE2ED8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43C4CC-6DA5-88BD-9799-FD64F1FE11F0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34F198-76E9-B02D-4371-4C26917163DB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A7D0B-E5D3-9DF8-5D74-4E970332C5A1}"/>
              </a:ext>
            </a:extLst>
          </p:cNvPr>
          <p:cNvSpPr txBox="1"/>
          <p:nvPr/>
        </p:nvSpPr>
        <p:spPr>
          <a:xfrm>
            <a:off x="750540" y="4866076"/>
            <a:ext cx="35823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the result of reduction in total loads run via better stain removal and fewer reclaim loads, increasing laundry operational efficiency by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%.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wash formula selection, and equipment maintenance).</a:t>
            </a:r>
          </a:p>
          <a:p>
            <a:endParaRPr lang="en-US" sz="1400" dirty="0"/>
          </a:p>
          <a:p>
            <a:r>
              <a:rPr lang="en-US" sz="1400" dirty="0"/>
              <a:t>Each laundry cycle uses approximately 810L of water based on Ecolab recommended wash cycles.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0FC6C5-202F-251A-983A-727D250165BE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E90C16-94EB-06C5-1949-1E51408476E7}"/>
              </a:ext>
            </a:extLst>
          </p:cNvPr>
          <p:cNvSpPr txBox="1"/>
          <p:nvPr/>
        </p:nvSpPr>
        <p:spPr>
          <a:xfrm>
            <a:off x="498611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a </a:t>
            </a:r>
            <a:r>
              <a:rPr lang="en-US" sz="1400" b="1" dirty="0">
                <a:solidFill>
                  <a:schemeClr val="tx2"/>
                </a:solidFill>
              </a:rPr>
              <a:t>reduction in reclaim</a:t>
            </a:r>
            <a:r>
              <a:rPr lang="en-US" sz="14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59CCE3-1181-F339-1C89-FF175C51CF77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F26D15-2436-84CA-1BF9-E3D7A0D2D3D3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EE574A-26B0-09BC-FBE1-6236F1A2B396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38414E-C54B-994E-D168-CC6E98A0032F}"/>
              </a:ext>
            </a:extLst>
          </p:cNvPr>
          <p:cNvSpPr txBox="1"/>
          <p:nvPr/>
        </p:nvSpPr>
        <p:spPr>
          <a:xfrm>
            <a:off x="4986110" y="4866076"/>
            <a:ext cx="35823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the result of reduction in total loads run via better stain removal and fewer reclaim loads, increasing laundry operational efficiency by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%.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wash formula selection, and equipment maintenance.</a:t>
            </a:r>
          </a:p>
          <a:p>
            <a:endParaRPr lang="en-US" sz="1400" dirty="0"/>
          </a:p>
          <a:p>
            <a:r>
              <a:rPr lang="en-US" sz="1400" dirty="0"/>
              <a:t>Each laundry cycle uses approximately 0.97 </a:t>
            </a:r>
            <a:r>
              <a:rPr lang="en-US" sz="1400" dirty="0" err="1"/>
              <a:t>therms</a:t>
            </a:r>
            <a:r>
              <a:rPr lang="en-US" sz="1400" dirty="0"/>
              <a:t> of energy.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C1C27B-C3B3-797F-3F1A-7E4E8AD7C8C6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7CCA91-C65C-7415-67EA-02999CDDF576}"/>
              </a:ext>
            </a:extLst>
          </p:cNvPr>
          <p:cNvSpPr txBox="1"/>
          <p:nvPr/>
        </p:nvSpPr>
        <p:spPr>
          <a:xfrm>
            <a:off x="922168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is estimated to improve based on a </a:t>
            </a:r>
            <a:r>
              <a:rPr lang="en-US" sz="1400" b="1" dirty="0">
                <a:solidFill>
                  <a:schemeClr val="tx2"/>
                </a:solidFill>
              </a:rPr>
              <a:t>reduction in reclaim</a:t>
            </a:r>
            <a:r>
              <a:rPr lang="en-US" sz="14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C72C6F-D126-C8B3-AE7F-60CC8C25D988}"/>
              </a:ext>
            </a:extLst>
          </p:cNvPr>
          <p:cNvSpPr txBox="1"/>
          <p:nvPr/>
        </p:nvSpPr>
        <p:spPr>
          <a:xfrm>
            <a:off x="922168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4A3981-31D1-5070-EBE0-B5461D650B35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46BA1C-8E21-0797-CA45-DB144928A072}"/>
              </a:ext>
            </a:extLst>
          </p:cNvPr>
          <p:cNvSpPr txBox="1"/>
          <p:nvPr/>
        </p:nvSpPr>
        <p:spPr>
          <a:xfrm>
            <a:off x="922168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A30968-49E7-7940-3D09-81E281BFA9F3}"/>
              </a:ext>
            </a:extLst>
          </p:cNvPr>
          <p:cNvSpPr txBox="1"/>
          <p:nvPr/>
        </p:nvSpPr>
        <p:spPr>
          <a:xfrm>
            <a:off x="9221680" y="486607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the result of reduction in total loads run via better stain removal and fewer reclaim loads, increasing laundry operational efficiency by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%.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wash formula selection, and equipment maintenance.</a:t>
            </a:r>
          </a:p>
          <a:p>
            <a:endParaRPr lang="en-US" sz="1400" dirty="0"/>
          </a:p>
          <a:p>
            <a:r>
              <a:rPr lang="en-US" sz="1400" dirty="0"/>
              <a:t>Each laundry cycle takes an estimated 1.3 hours of run time based on Ecolab recommended wash cycles.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6B3D87-57F1-D6E3-5949-C3A088EDDFE2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5A639C-CF27-BF3D-97B1-F7F5B0F6DC5A}"/>
              </a:ext>
            </a:extLst>
          </p:cNvPr>
          <p:cNvSpPr txBox="1"/>
          <p:nvPr/>
        </p:nvSpPr>
        <p:spPr>
          <a:xfrm>
            <a:off x="1345725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output is reduced based on a </a:t>
            </a:r>
            <a:r>
              <a:rPr lang="en-US" sz="1400" b="1" dirty="0">
                <a:solidFill>
                  <a:schemeClr val="tx2"/>
                </a:solidFill>
              </a:rPr>
              <a:t>reduction in reclaim</a:t>
            </a:r>
            <a:r>
              <a:rPr lang="en-US" sz="14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F697A5-B697-DB9C-1AD5-A84E55353C4C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4007A73-9EF5-4AC8-6AD3-679B48DB64B0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4BC3A0-3330-8F7B-DC6B-48997C7C6B8A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5EC36E-1EDA-9D20-B227-BEF5D32B2720}"/>
              </a:ext>
            </a:extLst>
          </p:cNvPr>
          <p:cNvSpPr txBox="1"/>
          <p:nvPr/>
        </p:nvSpPr>
        <p:spPr>
          <a:xfrm>
            <a:off x="13457250" y="4866076"/>
            <a:ext cx="358239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the result of reduction in total loads run via better stain removal and fewer reclaim loads, increasing laundry operational efficiency by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%. 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wash formula selection, and equipment maintenance). 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</a:t>
            </a:r>
            <a:r>
              <a:rPr lang="en-US" sz="1400" baseline="-25000" dirty="0"/>
              <a:t>2</a:t>
            </a:r>
            <a:r>
              <a:rPr lang="en-US" sz="1400" dirty="0"/>
              <a:t>/therm.</a:t>
            </a:r>
          </a:p>
          <a:p>
            <a:endParaRPr lang="en-US" sz="1400" dirty="0"/>
          </a:p>
          <a:p>
            <a:r>
              <a:rPr lang="en-US" sz="1400" dirty="0"/>
              <a:t>Each laundry cycle uses approximately 0.97 </a:t>
            </a:r>
            <a:r>
              <a:rPr lang="en-US" sz="1400" dirty="0" err="1"/>
              <a:t>therms</a:t>
            </a:r>
            <a:r>
              <a:rPr lang="en-US" sz="1400" dirty="0"/>
              <a:t> of energy.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097ADC-D1E6-DE8F-D27F-A8033DFDE03F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60D989-C383-E46E-99BF-22D68904AF6E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AF84DD-10E4-4ED0-4EF4-98974931F30C}"/>
              </a:ext>
            </a:extLst>
          </p:cNvPr>
          <p:cNvCxnSpPr>
            <a:cxnSpLocks/>
          </p:cNvCxnSpPr>
          <p:nvPr/>
        </p:nvCxnSpPr>
        <p:spPr>
          <a:xfrm>
            <a:off x="924718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3FEB8-3235-7DE8-5C2E-416A99CCF41B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58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9388-35D6-2442-8EF4-97D5CCFE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C1EADBF-D565-7AEF-5E58-F010903720D5}"/>
              </a:ext>
            </a:extLst>
          </p:cNvPr>
          <p:cNvSpPr/>
          <p:nvPr/>
        </p:nvSpPr>
        <p:spPr>
          <a:xfrm>
            <a:off x="54982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ADDA54-44F2-0AE8-8371-57853B49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Laundry – Low Temperature (Oxyguard)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0C8365-8604-11D1-079E-073B8662884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B3C86D-4B0D-83A3-465E-A6F91B616523}"/>
              </a:ext>
            </a:extLst>
          </p:cNvPr>
          <p:cNvSpPr txBox="1"/>
          <p:nvPr/>
        </p:nvSpPr>
        <p:spPr>
          <a:xfrm>
            <a:off x="75054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Liters of water saved are estimated based on a </a:t>
            </a:r>
            <a:r>
              <a:rPr lang="en-US" sz="1400" b="1" dirty="0">
                <a:solidFill>
                  <a:schemeClr val="tx2"/>
                </a:solidFill>
              </a:rPr>
              <a:t>reduction in reclaim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A37657-A62F-8810-C9B4-C81FAF6436E1}"/>
              </a:ext>
            </a:extLst>
          </p:cNvPr>
          <p:cNvSpPr txBox="1"/>
          <p:nvPr/>
        </p:nvSpPr>
        <p:spPr>
          <a:xfrm>
            <a:off x="75054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660886-22C4-8280-F445-6F4F3659847E}"/>
              </a:ext>
            </a:extLst>
          </p:cNvPr>
          <p:cNvSpPr/>
          <p:nvPr/>
        </p:nvSpPr>
        <p:spPr>
          <a:xfrm>
            <a:off x="54982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WATER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5FCC30-143C-02A0-601F-48A9EA661DEE}"/>
              </a:ext>
            </a:extLst>
          </p:cNvPr>
          <p:cNvSpPr txBox="1"/>
          <p:nvPr/>
        </p:nvSpPr>
        <p:spPr>
          <a:xfrm>
            <a:off x="75054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57120-6881-BA49-7D2D-B11236218BDA}"/>
              </a:ext>
            </a:extLst>
          </p:cNvPr>
          <p:cNvSpPr txBox="1"/>
          <p:nvPr/>
        </p:nvSpPr>
        <p:spPr>
          <a:xfrm>
            <a:off x="750540" y="4866076"/>
            <a:ext cx="35823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Water reduction is the result of reduction in total loads run via better stain removal and fewer reclaim loads, increasing laundry operational efficiency by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%.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wash formula selection, and equipment maintenance).</a:t>
            </a:r>
          </a:p>
          <a:p>
            <a:endParaRPr lang="en-US" sz="1400" dirty="0"/>
          </a:p>
          <a:p>
            <a:r>
              <a:rPr lang="en-US" sz="1400" dirty="0"/>
              <a:t>Each laundry cycle uses approximately 810L of water based on Ecolab recommended wash cycles.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B7293D-D028-8248-0698-59424FD6C734}"/>
              </a:ext>
            </a:extLst>
          </p:cNvPr>
          <p:cNvSpPr/>
          <p:nvPr/>
        </p:nvSpPr>
        <p:spPr>
          <a:xfrm>
            <a:off x="478539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6611BF-F133-22FB-D3DC-D832C9DF3A4B}"/>
              </a:ext>
            </a:extLst>
          </p:cNvPr>
          <p:cNvSpPr txBox="1"/>
          <p:nvPr/>
        </p:nvSpPr>
        <p:spPr>
          <a:xfrm>
            <a:off x="498611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saved is estimated based on a </a:t>
            </a:r>
            <a:r>
              <a:rPr lang="en-US" sz="1400" b="1" dirty="0">
                <a:solidFill>
                  <a:schemeClr val="tx2"/>
                </a:solidFill>
              </a:rPr>
              <a:t>reduction in temperature </a:t>
            </a:r>
            <a:r>
              <a:rPr lang="en-US" sz="1400" dirty="0"/>
              <a:t>used in the laundry cycles.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EFC14E-C41E-A564-CE99-0F08AE214398}"/>
              </a:ext>
            </a:extLst>
          </p:cNvPr>
          <p:cNvSpPr txBox="1"/>
          <p:nvPr/>
        </p:nvSpPr>
        <p:spPr>
          <a:xfrm>
            <a:off x="498611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17ED49-B074-C40E-7127-4B4602A984D7}"/>
              </a:ext>
            </a:extLst>
          </p:cNvPr>
          <p:cNvSpPr/>
          <p:nvPr/>
        </p:nvSpPr>
        <p:spPr>
          <a:xfrm>
            <a:off x="478539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89FB36-8F5A-EFAD-2CE1-C165136D0CAF}"/>
              </a:ext>
            </a:extLst>
          </p:cNvPr>
          <p:cNvSpPr txBox="1"/>
          <p:nvPr/>
        </p:nvSpPr>
        <p:spPr>
          <a:xfrm>
            <a:off x="498611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C6D397-BA85-002B-ADA9-CDB3E1B9163D}"/>
              </a:ext>
            </a:extLst>
          </p:cNvPr>
          <p:cNvSpPr txBox="1"/>
          <p:nvPr/>
        </p:nvSpPr>
        <p:spPr>
          <a:xfrm>
            <a:off x="4986110" y="4866076"/>
            <a:ext cx="35823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Energy reduction is the result of transitioning from using a traditional high temperature wash to Oxyguard Detergent using Low Temperature wash formulas. </a:t>
            </a:r>
          </a:p>
          <a:p>
            <a:endParaRPr lang="en-US" sz="1400" dirty="0"/>
          </a:p>
          <a:p>
            <a:r>
              <a:rPr lang="en-US" sz="1400" dirty="0"/>
              <a:t>The estimated energy savings are based on </a:t>
            </a:r>
            <a:r>
              <a:rPr lang="en-US" sz="1400" b="1" dirty="0">
                <a:solidFill>
                  <a:schemeClr val="tx2"/>
                </a:solidFill>
              </a:rPr>
              <a:t>lowering the hot water temperature from 60C to 40C, which accounts for approximately 52% of the water used each laundry load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A machine water efficiency of 17.9 L per kg dry linen.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E00664-3748-0C5C-3DD2-F88DBAEF31A3}"/>
              </a:ext>
            </a:extLst>
          </p:cNvPr>
          <p:cNvSpPr/>
          <p:nvPr/>
        </p:nvSpPr>
        <p:spPr>
          <a:xfrm>
            <a:off x="902096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2666C-7745-8474-656E-DBE5A6A06B47}"/>
              </a:ext>
            </a:extLst>
          </p:cNvPr>
          <p:cNvSpPr txBox="1"/>
          <p:nvPr/>
        </p:nvSpPr>
        <p:spPr>
          <a:xfrm>
            <a:off x="9221680" y="3139146"/>
            <a:ext cx="3582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is estimated to improve based on a </a:t>
            </a:r>
            <a:r>
              <a:rPr lang="en-US" sz="1400" b="1" dirty="0">
                <a:solidFill>
                  <a:schemeClr val="tx2"/>
                </a:solidFill>
              </a:rPr>
              <a:t>reduction in reclaim</a:t>
            </a:r>
            <a:r>
              <a:rPr lang="en-US" sz="1400" dirty="0"/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84B7FE-C567-3AD4-D763-B9DC43C61283}"/>
              </a:ext>
            </a:extLst>
          </p:cNvPr>
          <p:cNvSpPr txBox="1"/>
          <p:nvPr/>
        </p:nvSpPr>
        <p:spPr>
          <a:xfrm>
            <a:off x="922168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87A197-E9D1-5601-4363-D889B9845F24}"/>
              </a:ext>
            </a:extLst>
          </p:cNvPr>
          <p:cNvSpPr/>
          <p:nvPr/>
        </p:nvSpPr>
        <p:spPr>
          <a:xfrm>
            <a:off x="902096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PRODUCTIVITY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AEEDA7-1258-B3D3-E7B5-FBC9EED83BCD}"/>
              </a:ext>
            </a:extLst>
          </p:cNvPr>
          <p:cNvSpPr txBox="1"/>
          <p:nvPr/>
        </p:nvSpPr>
        <p:spPr>
          <a:xfrm>
            <a:off x="922168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35A3C9-038C-ECFA-4AFF-0800BECFB302}"/>
              </a:ext>
            </a:extLst>
          </p:cNvPr>
          <p:cNvSpPr txBox="1"/>
          <p:nvPr/>
        </p:nvSpPr>
        <p:spPr>
          <a:xfrm>
            <a:off x="9221680" y="486607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Productivity improvement is the result of reduction in total loads run via better stain removal and fewer reclaim loads, increasing laundry operational efficiency by </a:t>
            </a:r>
            <a:r>
              <a:rPr lang="en-US" sz="1400" b="1" dirty="0">
                <a:solidFill>
                  <a:schemeClr val="tx2"/>
                </a:solidFill>
              </a:rPr>
              <a:t>2</a:t>
            </a:r>
            <a:r>
              <a:rPr lang="en-US" sz="1400" dirty="0"/>
              <a:t>%.</a:t>
            </a:r>
          </a:p>
          <a:p>
            <a:endParaRPr lang="en-US" sz="1400" dirty="0"/>
          </a:p>
          <a:p>
            <a:r>
              <a:rPr lang="en-US" sz="1400" dirty="0"/>
              <a:t>This efficiency improvement is enabled by the Ecolab-provided service (including user training, product calibration, wash formula selection, and equipment maintenance.</a:t>
            </a:r>
          </a:p>
          <a:p>
            <a:endParaRPr lang="en-US" sz="1400" dirty="0"/>
          </a:p>
          <a:p>
            <a:r>
              <a:rPr lang="en-US" sz="1400" dirty="0"/>
              <a:t>Each laundry cycle takes an estimated 1.3 hours of run time based on Ecolab recommended wash cycles.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8F1D05-06BF-CE95-E6E3-FD3E8430CCD8}"/>
              </a:ext>
            </a:extLst>
          </p:cNvPr>
          <p:cNvSpPr/>
          <p:nvPr/>
        </p:nvSpPr>
        <p:spPr>
          <a:xfrm>
            <a:off x="13256531" y="2471833"/>
            <a:ext cx="4034851" cy="6657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D1988B-5AB1-0BAB-2DCD-28518444D565}"/>
              </a:ext>
            </a:extLst>
          </p:cNvPr>
          <p:cNvSpPr txBox="1"/>
          <p:nvPr/>
        </p:nvSpPr>
        <p:spPr>
          <a:xfrm>
            <a:off x="13457250" y="3139146"/>
            <a:ext cx="3582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output is reduced based on a </a:t>
            </a:r>
            <a:r>
              <a:rPr lang="en-US" sz="1400" b="1" dirty="0">
                <a:solidFill>
                  <a:schemeClr val="tx2"/>
                </a:solidFill>
              </a:rPr>
              <a:t>reduction in temperature </a:t>
            </a:r>
            <a:r>
              <a:rPr lang="en-US" sz="1400" dirty="0"/>
              <a:t>used in the laundry cycles.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4E7A0A-F909-C0BE-BEC7-EB97E3186A64}"/>
              </a:ext>
            </a:extLst>
          </p:cNvPr>
          <p:cNvSpPr txBox="1"/>
          <p:nvPr/>
        </p:nvSpPr>
        <p:spPr>
          <a:xfrm>
            <a:off x="13457250" y="2731779"/>
            <a:ext cx="2164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Value Statement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8B9489-0D90-DCCB-C3A5-B7E782D47974}"/>
              </a:ext>
            </a:extLst>
          </p:cNvPr>
          <p:cNvSpPr/>
          <p:nvPr/>
        </p:nvSpPr>
        <p:spPr>
          <a:xfrm>
            <a:off x="13256531" y="1888280"/>
            <a:ext cx="4034851" cy="583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/>
              <a:t>GREENHOUSE GASES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EAE3F6-A984-3E61-0112-561FD0A87178}"/>
              </a:ext>
            </a:extLst>
          </p:cNvPr>
          <p:cNvSpPr txBox="1"/>
          <p:nvPr/>
        </p:nvSpPr>
        <p:spPr>
          <a:xfrm>
            <a:off x="13457250" y="4465966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Disclosure Statement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8FB17F-3EE7-C0F5-13D9-D52E7D11EF88}"/>
              </a:ext>
            </a:extLst>
          </p:cNvPr>
          <p:cNvSpPr txBox="1"/>
          <p:nvPr/>
        </p:nvSpPr>
        <p:spPr>
          <a:xfrm>
            <a:off x="13457250" y="4866076"/>
            <a:ext cx="35823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Greenhouse Gas reduction is the result of transitioning from using a traditional high temperature wash to Oxyguard Detergent using Low Temperature wash formulas.</a:t>
            </a:r>
          </a:p>
          <a:p>
            <a:endParaRPr lang="en-US" sz="1400" dirty="0"/>
          </a:p>
          <a:p>
            <a:r>
              <a:rPr lang="en-US" sz="1400" dirty="0"/>
              <a:t>This assumes a reduction in energy usage by </a:t>
            </a:r>
            <a:r>
              <a:rPr lang="en-US" sz="1400" b="1" dirty="0">
                <a:solidFill>
                  <a:schemeClr val="tx2"/>
                </a:solidFill>
              </a:rPr>
              <a:t>reducing the hot water temperature from 60C to 40C</a:t>
            </a:r>
            <a:r>
              <a:rPr lang="en-US" sz="1400" dirty="0"/>
              <a:t>, which accounts for an estimated 52% of the water used each load.</a:t>
            </a:r>
          </a:p>
          <a:p>
            <a:endParaRPr lang="en-US" sz="1400" dirty="0"/>
          </a:p>
          <a:p>
            <a:r>
              <a:rPr lang="en-US" sz="1400" dirty="0"/>
              <a:t>The US EPA estimates Natural Gas oxidizes to 100% at 0.005306 metric tons CO</a:t>
            </a:r>
            <a:r>
              <a:rPr lang="en-US" sz="1400" baseline="-25000" dirty="0"/>
              <a:t>2</a:t>
            </a:r>
            <a:r>
              <a:rPr lang="en-US" sz="1400" dirty="0"/>
              <a:t>/therm.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71B80F-8F26-7AD2-7AB4-76F154D6E08A}"/>
              </a:ext>
            </a:extLst>
          </p:cNvPr>
          <p:cNvCxnSpPr>
            <a:cxnSpLocks/>
          </p:cNvCxnSpPr>
          <p:nvPr/>
        </p:nvCxnSpPr>
        <p:spPr>
          <a:xfrm>
            <a:off x="77604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57DC31-D3D8-8D7F-2DE8-C21144AB3E83}"/>
              </a:ext>
            </a:extLst>
          </p:cNvPr>
          <p:cNvCxnSpPr>
            <a:cxnSpLocks/>
          </p:cNvCxnSpPr>
          <p:nvPr/>
        </p:nvCxnSpPr>
        <p:spPr>
          <a:xfrm>
            <a:off x="501161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EF4D21-E9C1-CB30-8921-6EDCE32D8C90}"/>
              </a:ext>
            </a:extLst>
          </p:cNvPr>
          <p:cNvCxnSpPr>
            <a:cxnSpLocks/>
          </p:cNvCxnSpPr>
          <p:nvPr/>
        </p:nvCxnSpPr>
        <p:spPr>
          <a:xfrm>
            <a:off x="924718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D6BC6F-CFB1-CCE6-C6A4-8C02E04BBEF5}"/>
              </a:ext>
            </a:extLst>
          </p:cNvPr>
          <p:cNvCxnSpPr>
            <a:cxnSpLocks/>
          </p:cNvCxnSpPr>
          <p:nvPr/>
        </p:nvCxnSpPr>
        <p:spPr>
          <a:xfrm>
            <a:off x="13482759" y="4291561"/>
            <a:ext cx="358239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01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39E601-8EB1-F2B0-AB6D-85626DDCD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Comparison Chart (SEA Only)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4FDC7-39A8-1C6E-6D1C-F3F42EA775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367269B-BB66-1242-895A-E957DF8587C7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4" name="Content Placeholder 9">
            <a:extLst>
              <a:ext uri="{FF2B5EF4-FFF2-40B4-BE49-F238E27FC236}">
                <a16:creationId xmlns:a16="http://schemas.microsoft.com/office/drawing/2014/main" id="{E3664196-4694-E87E-CCC0-D66E17A41B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418310"/>
              </p:ext>
            </p:extLst>
          </p:nvPr>
        </p:nvGraphicFramePr>
        <p:xfrm>
          <a:off x="636908" y="1852199"/>
          <a:ext cx="16590261" cy="7067210"/>
        </p:xfrm>
        <a:graphic>
          <a:graphicData uri="http://schemas.openxmlformats.org/drawingml/2006/table">
            <a:tbl>
              <a:tblPr firstRow="1" bandRow="1"/>
              <a:tblGrid>
                <a:gridCol w="2141589">
                  <a:extLst>
                    <a:ext uri="{9D8B030D-6E8A-4147-A177-3AD203B41FA5}">
                      <a16:colId xmlns:a16="http://schemas.microsoft.com/office/drawing/2014/main" val="2446944587"/>
                    </a:ext>
                  </a:extLst>
                </a:gridCol>
                <a:gridCol w="4407835">
                  <a:extLst>
                    <a:ext uri="{9D8B030D-6E8A-4147-A177-3AD203B41FA5}">
                      <a16:colId xmlns:a16="http://schemas.microsoft.com/office/drawing/2014/main" val="3850008703"/>
                    </a:ext>
                  </a:extLst>
                </a:gridCol>
                <a:gridCol w="5092025">
                  <a:extLst>
                    <a:ext uri="{9D8B030D-6E8A-4147-A177-3AD203B41FA5}">
                      <a16:colId xmlns:a16="http://schemas.microsoft.com/office/drawing/2014/main" val="2477854173"/>
                    </a:ext>
                  </a:extLst>
                </a:gridCol>
                <a:gridCol w="4948812">
                  <a:extLst>
                    <a:ext uri="{9D8B030D-6E8A-4147-A177-3AD203B41FA5}">
                      <a16:colId xmlns:a16="http://schemas.microsoft.com/office/drawing/2014/main" val="1303576959"/>
                    </a:ext>
                  </a:extLst>
                </a:gridCol>
              </a:tblGrid>
              <a:tr h="496803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6365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400">
                          <a:solidFill>
                            <a:schemeClr val="bg1"/>
                          </a:solidFill>
                        </a:rPr>
                        <a:t>Competitor Machine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6365"/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400">
                          <a:solidFill>
                            <a:schemeClr val="bg1"/>
                          </a:solidFill>
                        </a:rPr>
                        <a:t>Ecolab CSH Model</a:t>
                      </a:r>
                      <a:endParaRPr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BD3"/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Ecolab ES Model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050736"/>
                  </a:ext>
                </a:extLst>
              </a:tr>
              <a:tr h="2141640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US" sz="1200" b="0" u="none" strike="noStrike" kern="1200" baseline="0">
                          <a:solidFill>
                            <a:schemeClr val="accent1"/>
                          </a:solidFill>
                        </a:rPr>
                        <a:t>Undercounter</a:t>
                      </a:r>
                      <a:endParaRPr lang="en-US" sz="1200" b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i="0">
                          <a:solidFill>
                            <a:schemeClr val="accent1"/>
                          </a:solidFill>
                        </a:rPr>
                        <a:t>Hobart Ecomax F500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dirty="0">
                          <a:solidFill>
                            <a:schemeClr val="accent1"/>
                          </a:solidFill>
                        </a:rPr>
                        <a:t>CSH40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200">
                        <a:solidFill>
                          <a:schemeClr val="accent1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63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05210"/>
                  </a:ext>
                </a:extLst>
              </a:tr>
              <a:tr h="2110027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US" sz="1200" b="0">
                          <a:solidFill>
                            <a:schemeClr val="accent1"/>
                          </a:solidFill>
                        </a:rPr>
                        <a:t>Hood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i="0" dirty="0">
                          <a:solidFill>
                            <a:schemeClr val="accent1"/>
                          </a:solidFill>
                        </a:rPr>
                        <a:t>Hobart Ecomax H600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CSH60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>
                          <a:solidFill>
                            <a:schemeClr val="accent1"/>
                          </a:solidFill>
                        </a:rPr>
                        <a:t>ES2000HT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58863"/>
                  </a:ext>
                </a:extLst>
              </a:tr>
              <a:tr h="2318740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US" sz="12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Single-Tank Conveyor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kern="1200" baseline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Winterhalter</a:t>
                      </a:r>
                      <a:r>
                        <a:rPr lang="en-US" sz="12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STR 208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CSH200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 kern="1200" baseline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ES4400</a:t>
                      </a:r>
                    </a:p>
                  </a:txBody>
                  <a:tcPr anchor="b">
                    <a:lnL w="12700" cap="flat" cmpd="sng" algn="ctr">
                      <a:solidFill>
                        <a:srgbClr val="616365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501503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DE3DE027-4C05-C8CB-89E2-6D58218393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565" b="92341" l="9799" r="90955">
                        <a14:foregroundMark x1="10804" y1="17505" x2="81407" y2="10284"/>
                        <a14:foregroundMark x1="81407" y1="10284" x2="81658" y2="10284"/>
                        <a14:foregroundMark x1="86432" y1="9409" x2="87688" y2="12691"/>
                        <a14:foregroundMark x1="87688" y1="9409" x2="84673" y2="7221"/>
                        <a14:foregroundMark x1="65075" y1="9628" x2="44975" y2="8972"/>
                        <a14:foregroundMark x1="51508" y1="7877" x2="37437" y2="7877"/>
                        <a14:foregroundMark x1="58291" y1="7659" x2="48492" y2="7221"/>
                        <a14:foregroundMark x1="82161" y1="13348" x2="85176" y2="14880"/>
                        <a14:foregroundMark x1="86935" y1="14880" x2="88442" y2="20569"/>
                        <a14:foregroundMark x1="29397" y1="22101" x2="20101" y2="51641"/>
                        <a14:foregroundMark x1="20101" y1="51641" x2="40452" y2="78556"/>
                        <a14:foregroundMark x1="40452" y1="78556" x2="73869" y2="77899"/>
                        <a14:foregroundMark x1="90854" y1="35833" x2="90890" y2="36324"/>
                        <a14:foregroundMark x1="90690" y1="33598" x2="90755" y2="34482"/>
                        <a14:foregroundMark x1="90387" y1="29487" x2="90508" y2="31132"/>
                        <a14:foregroundMark x1="89698" y1="20131" x2="90266" y2="27843"/>
                        <a14:foregroundMark x1="90531" y1="60394" x2="90452" y2="63895"/>
                        <a14:foregroundMark x1="85176" y1="17724" x2="82663" y2="13786"/>
                        <a14:foregroundMark x1="41709" y1="86871" x2="42714" y2="92341"/>
                        <a14:foregroundMark x1="89196" y1="54923" x2="89698" y2="59519"/>
                        <a14:foregroundMark x1="89447" y1="55361" x2="89447" y2="61050"/>
                        <a14:backgroundMark x1="91206" y1="39606" x2="91206" y2="39606"/>
                        <a14:backgroundMark x1="91457" y1="37418" x2="91206" y2="35667"/>
                        <a14:backgroundMark x1="91457" y1="36324" x2="91457" y2="54737"/>
                        <a14:backgroundMark x1="91206" y1="35011" x2="91206" y2="33042"/>
                        <a14:backgroundMark x1="91206" y1="31729" x2="91206" y2="31729"/>
                        <a14:backgroundMark x1="91206" y1="31729" x2="91206" y2="30416"/>
                      </a14:backgroundRemoval>
                    </a14:imgEffect>
                  </a14:imgLayer>
                </a14:imgProps>
              </a:ext>
            </a:extLst>
          </a:blip>
          <a:srcRect l="7635" t="4422" r="6991" b="4843"/>
          <a:stretch/>
        </p:blipFill>
        <p:spPr>
          <a:xfrm>
            <a:off x="9074405" y="2598407"/>
            <a:ext cx="1188343" cy="145018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9527A40-5F39-7CD1-3546-43F337D1C3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63" b="93404" l="4229" r="89905">
                        <a14:foregroundMark x1="83902" y1="54090" x2="89086" y2="32586"/>
                        <a14:foregroundMark x1="79809" y1="92216" x2="80355" y2="93404"/>
                        <a14:foregroundMark x1="81992" y1="86807" x2="87449" y2="71768"/>
                        <a14:foregroundMark x1="12142" y1="62797" x2="7640" y2="62533"/>
                        <a14:foregroundMark x1="6276" y1="62401" x2="4229" y2="62401"/>
                        <a14:foregroundMark x1="27967" y1="86016" x2="28377" y2="86939"/>
                      </a14:backgroundRemoval>
                    </a14:imgEffect>
                  </a14:imgLayer>
                </a14:imgProps>
              </a:ext>
            </a:extLst>
          </a:blip>
          <a:srcRect l="3580" t="9066" r="6108" b="5325"/>
          <a:stretch/>
        </p:blipFill>
        <p:spPr>
          <a:xfrm>
            <a:off x="4028036" y="2618158"/>
            <a:ext cx="1517763" cy="14878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37502A2-CEA3-26A5-4438-0C551EDD89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055" b="92891" l="9945" r="89503">
                        <a14:foregroundMark x1="41160" y1="12006" x2="75691" y2="8531"/>
                        <a14:foregroundMark x1="75967" y1="9163" x2="21823" y2="8531"/>
                        <a14:foregroundMark x1="21271" y1="8215" x2="73204" y2="5213"/>
                        <a14:foregroundMark x1="45856" y1="6793" x2="17956" y2="7425"/>
                        <a14:foregroundMark x1="31768" y1="7425" x2="48895" y2="6635"/>
                        <a14:foregroundMark x1="88950" y1="17062" x2="88950" y2="21169"/>
                        <a14:foregroundMark x1="77348" y1="89889" x2="77348" y2="92891"/>
                        <a14:foregroundMark x1="19613" y1="91469" x2="19613" y2="91469"/>
                      </a14:backgroundRemoval>
                    </a14:imgEffect>
                  </a14:imgLayer>
                </a14:imgProps>
              </a:ext>
            </a:extLst>
          </a:blip>
          <a:srcRect l="10315" t="4055" r="7221" b="4053"/>
          <a:stretch/>
        </p:blipFill>
        <p:spPr>
          <a:xfrm>
            <a:off x="4498514" y="4780712"/>
            <a:ext cx="763542" cy="14878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A1061D-8BFC-9906-6219-68685C61B3D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110" b="95320" l="9346" r="89720">
                        <a14:foregroundMark x1="45093" y1="31507" x2="64252" y2="9475"/>
                        <a14:foregroundMark x1="64720" y1="9247" x2="31075" y2="9247"/>
                        <a14:foregroundMark x1="26869" y1="8790" x2="84112" y2="7877"/>
                        <a14:foregroundMark x1="74065" y1="5479" x2="39486" y2="4110"/>
                        <a14:foregroundMark x1="13551" y1="61073" x2="11449" y2="53425"/>
                        <a14:foregroundMark x1="11916" y1="52854" x2="12383" y2="46119"/>
                        <a14:foregroundMark x1="12383" y1="46119" x2="13785" y2="29909"/>
                        <a14:foregroundMark x1="12617" y1="29680" x2="12383" y2="28425"/>
                        <a14:foregroundMark x1="32944" y1="91096" x2="32944" y2="94635"/>
                        <a14:foregroundMark x1="81308" y1="95320" x2="81308" y2="95320"/>
                        <a14:foregroundMark x1="35047" y1="95205" x2="35047" y2="95205"/>
                        <a14:foregroundMark x1="89720" y1="12557" x2="89720" y2="12557"/>
                        <a14:backgroundMark x1="86215" y1="13242" x2="86215" y2="13242"/>
                      </a14:backgroundRemoval>
                    </a14:imgEffect>
                  </a14:imgLayer>
                </a14:imgProps>
              </a:ext>
            </a:extLst>
          </a:blip>
          <a:srcRect l="8065" t="1999" r="7337" b="1992"/>
          <a:stretch/>
        </p:blipFill>
        <p:spPr>
          <a:xfrm>
            <a:off x="9454372" y="4825886"/>
            <a:ext cx="587986" cy="1365779"/>
          </a:xfrm>
          <a:prstGeom prst="rect">
            <a:avLst/>
          </a:prstGeom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BCE55801-1229-9E6C-9152-8D267A887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1536" b="77129" l="16167" r="85667">
                        <a14:foregroundMark x1="17667" y1="50584" x2="16333" y2="49917"/>
                        <a14:foregroundMark x1="21333" y1="75626" x2="21333" y2="77796"/>
                        <a14:foregroundMark x1="68500" y1="27212" x2="61000" y2="24040"/>
                        <a14:foregroundMark x1="61000" y1="24040" x2="57333" y2="24207"/>
                        <a14:foregroundMark x1="52333" y1="21703" x2="55333" y2="21536"/>
                        <a14:foregroundMark x1="68500" y1="22705" x2="67167" y2="23038"/>
                        <a14:foregroundMark x1="68667" y1="23038" x2="69500" y2="22037"/>
                        <a14:foregroundMark x1="68500" y1="22037" x2="67167" y2="22371"/>
                        <a14:foregroundMark x1="79167" y1="47746" x2="82833" y2="47746"/>
                        <a14:foregroundMark x1="84000" y1="48247" x2="85667" y2="482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83" t="19677" r="13377" b="22354"/>
          <a:stretch/>
        </p:blipFill>
        <p:spPr bwMode="auto">
          <a:xfrm>
            <a:off x="8691633" y="6841105"/>
            <a:ext cx="2103921" cy="167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8F83DF-98EF-0892-0E43-090537805D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922" b="95386" l="10000" r="90000">
                        <a14:foregroundMark x1="40000" y1="37947" x2="39649" y2="49596"/>
                        <a14:foregroundMark x1="40702" y1="42791" x2="25965" y2="25721"/>
                        <a14:foregroundMark x1="42281" y1="12572" x2="41754" y2="3922"/>
                        <a14:foregroundMark x1="41754" y1="3922" x2="41754" y2="3922"/>
                        <a14:foregroundMark x1="33509" y1="85121" x2="56316" y2="86967"/>
                        <a14:foregroundMark x1="57544" y1="86621" x2="53158" y2="87313"/>
                        <a14:foregroundMark x1="58357" y1="94564" x2="58421" y2="95386"/>
                        <a14:foregroundMark x1="57895" y1="88581" x2="58185" y2="92337"/>
                        <a14:foregroundMark x1="13158" y1="49366" x2="13509" y2="64129"/>
                        <a14:backgroundMark x1="41930" y1="91811" x2="41930" y2="91811"/>
                        <a14:backgroundMark x1="30175" y1="90311" x2="39298" y2="91234"/>
                        <a14:backgroundMark x1="47193" y1="94925" x2="51404" y2="95156"/>
                        <a14:backgroundMark x1="69298" y1="92849" x2="69298" y2="95156"/>
                        <a14:backgroundMark x1="61053" y1="92042" x2="61579" y2="942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68730" y="4722824"/>
            <a:ext cx="978139" cy="14878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E937EAE-4114-1A3E-42FD-7911D9A8B4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43321" y="6841105"/>
            <a:ext cx="1653353" cy="1673861"/>
          </a:xfrm>
          <a:prstGeom prst="rect">
            <a:avLst/>
          </a:prstGeom>
        </p:spPr>
      </p:pic>
      <p:pic>
        <p:nvPicPr>
          <p:cNvPr id="32" name="Picture 2" descr="Winterhalter STR-208 Commercial Rack Conveyor Dishwashing – Taste Tools">
            <a:extLst>
              <a:ext uri="{FF2B5EF4-FFF2-40B4-BE49-F238E27FC236}">
                <a16:creationId xmlns:a16="http://schemas.microsoft.com/office/drawing/2014/main" id="{948C7925-B721-5619-D9FC-41B0245CA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086" y="6901755"/>
            <a:ext cx="2667815" cy="155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58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40BC-7732-A36E-DB82-24B28171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82E404-7705-5778-88DB-41F72A4D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Machine Specifications &amp; Assumptions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9BB02F-8E4F-A984-5E81-23450242C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845123"/>
              </p:ext>
            </p:extLst>
          </p:nvPr>
        </p:nvGraphicFramePr>
        <p:xfrm>
          <a:off x="636908" y="1745430"/>
          <a:ext cx="16590263" cy="4371394"/>
        </p:xfrm>
        <a:graphic>
          <a:graphicData uri="http://schemas.openxmlformats.org/drawingml/2006/table">
            <a:tbl>
              <a:tblPr firstRow="1" bandRow="1"/>
              <a:tblGrid>
                <a:gridCol w="1258211">
                  <a:extLst>
                    <a:ext uri="{9D8B030D-6E8A-4147-A177-3AD203B41FA5}">
                      <a16:colId xmlns:a16="http://schemas.microsoft.com/office/drawing/2014/main" val="2090652196"/>
                    </a:ext>
                  </a:extLst>
                </a:gridCol>
                <a:gridCol w="2166641">
                  <a:extLst>
                    <a:ext uri="{9D8B030D-6E8A-4147-A177-3AD203B41FA5}">
                      <a16:colId xmlns:a16="http://schemas.microsoft.com/office/drawing/2014/main" val="3035790157"/>
                    </a:ext>
                  </a:extLst>
                </a:gridCol>
                <a:gridCol w="1154964">
                  <a:extLst>
                    <a:ext uri="{9D8B030D-6E8A-4147-A177-3AD203B41FA5}">
                      <a16:colId xmlns:a16="http://schemas.microsoft.com/office/drawing/2014/main" val="285630621"/>
                    </a:ext>
                  </a:extLst>
                </a:gridCol>
                <a:gridCol w="1264961">
                  <a:extLst>
                    <a:ext uri="{9D8B030D-6E8A-4147-A177-3AD203B41FA5}">
                      <a16:colId xmlns:a16="http://schemas.microsoft.com/office/drawing/2014/main" val="1928897218"/>
                    </a:ext>
                  </a:extLst>
                </a:gridCol>
                <a:gridCol w="1471205">
                  <a:extLst>
                    <a:ext uri="{9D8B030D-6E8A-4147-A177-3AD203B41FA5}">
                      <a16:colId xmlns:a16="http://schemas.microsoft.com/office/drawing/2014/main" val="3372780655"/>
                    </a:ext>
                  </a:extLst>
                </a:gridCol>
                <a:gridCol w="1374957">
                  <a:extLst>
                    <a:ext uri="{9D8B030D-6E8A-4147-A177-3AD203B41FA5}">
                      <a16:colId xmlns:a16="http://schemas.microsoft.com/office/drawing/2014/main" val="2019433581"/>
                    </a:ext>
                  </a:extLst>
                </a:gridCol>
                <a:gridCol w="1194018">
                  <a:extLst>
                    <a:ext uri="{9D8B030D-6E8A-4147-A177-3AD203B41FA5}">
                      <a16:colId xmlns:a16="http://schemas.microsoft.com/office/drawing/2014/main" val="1053411333"/>
                    </a:ext>
                  </a:extLst>
                </a:gridCol>
                <a:gridCol w="1824207">
                  <a:extLst>
                    <a:ext uri="{9D8B030D-6E8A-4147-A177-3AD203B41FA5}">
                      <a16:colId xmlns:a16="http://schemas.microsoft.com/office/drawing/2014/main" val="1024000433"/>
                    </a:ext>
                  </a:extLst>
                </a:gridCol>
                <a:gridCol w="1361208">
                  <a:extLst>
                    <a:ext uri="{9D8B030D-6E8A-4147-A177-3AD203B41FA5}">
                      <a16:colId xmlns:a16="http://schemas.microsoft.com/office/drawing/2014/main" val="1955408240"/>
                    </a:ext>
                  </a:extLst>
                </a:gridCol>
                <a:gridCol w="1601633">
                  <a:extLst>
                    <a:ext uri="{9D8B030D-6E8A-4147-A177-3AD203B41FA5}">
                      <a16:colId xmlns:a16="http://schemas.microsoft.com/office/drawing/2014/main" val="1034594085"/>
                    </a:ext>
                  </a:extLst>
                </a:gridCol>
                <a:gridCol w="1918258">
                  <a:extLst>
                    <a:ext uri="{9D8B030D-6E8A-4147-A177-3AD203B41FA5}">
                      <a16:colId xmlns:a16="http://schemas.microsoft.com/office/drawing/2014/main" val="4254612857"/>
                    </a:ext>
                  </a:extLst>
                </a:gridCol>
              </a:tblGrid>
              <a:tr h="1008784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Machine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Cycle Time (min)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Water Usage</a:t>
                      </a:r>
                    </a:p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(L / rack)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Booster Heating</a:t>
                      </a:r>
                    </a:p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(kW)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Tank Heating</a:t>
                      </a:r>
                    </a:p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(kW)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Wash Pump</a:t>
                      </a:r>
                    </a:p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(kW)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Rinse Booster Pump</a:t>
                      </a:r>
                    </a:p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(kW)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No. of racks per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>
                          <a:solidFill>
                            <a:schemeClr val="bg1"/>
                          </a:solidFill>
                        </a:rPr>
                        <a:t>No. of racks washed per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75"/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b="1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b="1" dirty="0">
                          <a:solidFill>
                            <a:schemeClr val="bg1"/>
                          </a:solidFill>
                        </a:rPr>
                        <a:t>Washing Energy Rate (kWh / rack)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839"/>
                  </a:ext>
                </a:extLst>
              </a:tr>
              <a:tr h="560435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Undercounter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CSH40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6.00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109,500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80B5E9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040287"/>
                  </a:ext>
                </a:extLst>
              </a:tr>
              <a:tr h="560435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endParaRPr lang="en-SG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Hobart Ecomax F500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7.50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109,500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897208"/>
                  </a:ext>
                </a:extLst>
              </a:tr>
              <a:tr h="560435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Hood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CSH60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164,250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324135"/>
                  </a:ext>
                </a:extLst>
              </a:tr>
              <a:tr h="560435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endParaRPr lang="en-SG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Hobart Ecomax H600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136,875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642251"/>
                  </a:ext>
                </a:extLst>
              </a:tr>
              <a:tr h="560435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Conveyor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CSH200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13.00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547,500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dirty="0">
                          <a:solidFill>
                            <a:schemeClr val="tx1"/>
                          </a:solidFill>
                        </a:rPr>
                        <a:t>0.13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B5E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72621"/>
                  </a:ext>
                </a:extLst>
              </a:tr>
              <a:tr h="560435"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endParaRPr lang="en-SG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Winterhalter STR 208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dirty="0">
                          <a:solidFill>
                            <a:schemeClr val="tx1"/>
                          </a:solidFill>
                        </a:rPr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2.70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30.30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4.50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355,875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1pPr>
                      <a:lvl2pPr marL="670544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2pPr>
                      <a:lvl3pPr marL="1341089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3pPr>
                      <a:lvl4pPr marL="2011633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4pPr>
                      <a:lvl5pPr marL="2682178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5pPr>
                      <a:lvl6pPr marL="3352722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6pPr>
                      <a:lvl7pPr marL="4023266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7pPr>
                      <a:lvl8pPr marL="4693811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8pPr>
                      <a:lvl9pPr marL="5364355" algn="l" defTabSz="1341089" rtl="0" eaLnBrk="1" latinLnBrk="0" hangingPunct="1">
                        <a:defRPr sz="2640" kern="1200">
                          <a:solidFill>
                            <a:schemeClr val="tx1"/>
                          </a:solidFill>
                          <a:latin typeface="Arial"/>
                          <a:ea typeface="BIZ UDPゴシック"/>
                        </a:defRPr>
                      </a:lvl9pPr>
                    </a:lstStyle>
                    <a:p>
                      <a:pPr algn="ctr"/>
                      <a:r>
                        <a:rPr lang="en-SG" sz="1200" dirty="0">
                          <a:solidFill>
                            <a:schemeClr val="tx1"/>
                          </a:solidFill>
                        </a:rPr>
                        <a:t>0.28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80B5E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8880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7B904D-568D-4B30-3B6F-09F4E948F7E4}"/>
              </a:ext>
            </a:extLst>
          </p:cNvPr>
          <p:cNvSpPr txBox="1"/>
          <p:nvPr/>
        </p:nvSpPr>
        <p:spPr>
          <a:xfrm>
            <a:off x="636908" y="6285560"/>
            <a:ext cx="6529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SG" sz="1400" i="1" dirty="0">
                <a:solidFill>
                  <a:srgbClr val="003675"/>
                </a:solidFill>
                <a:ea typeface="ＭＳ Ｐゴシック"/>
              </a:rPr>
              <a:t>All raw numbers (non-blue headers) are taken from the dishmachine sell sheets.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23FF5-B159-5E8F-ADE6-77FC55952A75}"/>
              </a:ext>
            </a:extLst>
          </p:cNvPr>
          <p:cNvSpPr txBox="1"/>
          <p:nvPr/>
        </p:nvSpPr>
        <p:spPr>
          <a:xfrm>
            <a:off x="636908" y="6644900"/>
            <a:ext cx="11081880" cy="791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SG" sz="1800" b="1" dirty="0">
                <a:solidFill>
                  <a:srgbClr val="003675"/>
                </a:solidFill>
                <a:ea typeface="ＭＳ Ｐゴシック"/>
              </a:rPr>
              <a:t>Calculating the no. of racks washed per year</a:t>
            </a:r>
          </a:p>
          <a:p>
            <a:pPr defTabSz="914400">
              <a:lnSpc>
                <a:spcPct val="150000"/>
              </a:lnSpc>
            </a:pPr>
            <a:r>
              <a:rPr lang="en-SG" sz="1400" dirty="0">
                <a:solidFill>
                  <a:srgbClr val="003675"/>
                </a:solidFill>
                <a:ea typeface="ＭＳ Ｐゴシック"/>
              </a:rPr>
              <a:t>No. of racks washed per year = No. of racks per hour * Operation hours per meal service * No. of meal services per day * 365 days a year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54C03-3B99-A44F-E02C-84F690B58EF6}"/>
              </a:ext>
            </a:extLst>
          </p:cNvPr>
          <p:cNvSpPr txBox="1"/>
          <p:nvPr/>
        </p:nvSpPr>
        <p:spPr>
          <a:xfrm>
            <a:off x="5292771" y="7326736"/>
            <a:ext cx="2291012" cy="314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SG" sz="1100" i="1">
                <a:solidFill>
                  <a:srgbClr val="006BD3"/>
                </a:solidFill>
                <a:ea typeface="ＭＳ Ｐゴシック"/>
              </a:rPr>
              <a:t>(Assuming </a:t>
            </a:r>
            <a:r>
              <a:rPr lang="en-SG" sz="1100" b="1" i="1">
                <a:solidFill>
                  <a:srgbClr val="006BD3"/>
                </a:solidFill>
                <a:ea typeface="ＭＳ Ｐゴシック"/>
              </a:rPr>
              <a:t>2.5 hours </a:t>
            </a:r>
            <a:r>
              <a:rPr lang="en-SG" sz="1100" i="1">
                <a:solidFill>
                  <a:srgbClr val="006BD3"/>
                </a:solidFill>
                <a:ea typeface="ＭＳ Ｐゴシック"/>
              </a:rPr>
              <a:t>per service)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02621E-5398-6DDC-614F-5F9883E75CD1}"/>
              </a:ext>
            </a:extLst>
          </p:cNvPr>
          <p:cNvSpPr txBox="1"/>
          <p:nvPr/>
        </p:nvSpPr>
        <p:spPr>
          <a:xfrm>
            <a:off x="8179213" y="7326736"/>
            <a:ext cx="1523174" cy="314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SG" sz="1100" i="1" dirty="0">
                <a:solidFill>
                  <a:srgbClr val="006BD3"/>
                </a:solidFill>
                <a:ea typeface="ＭＳ Ｐゴシック"/>
              </a:rPr>
              <a:t>(Assuming </a:t>
            </a:r>
            <a:r>
              <a:rPr lang="en-SG" sz="1100" b="1" i="1" dirty="0">
                <a:solidFill>
                  <a:srgbClr val="006BD3"/>
                </a:solidFill>
                <a:ea typeface="ＭＳ Ｐゴシック"/>
              </a:rPr>
              <a:t>3 </a:t>
            </a:r>
            <a:r>
              <a:rPr lang="en-SG" sz="1100" i="1" dirty="0">
                <a:solidFill>
                  <a:srgbClr val="006BD3"/>
                </a:solidFill>
                <a:ea typeface="ＭＳ Ｐゴシック"/>
              </a:rPr>
              <a:t>per day)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40335-88A3-60A9-0637-EC8F632F546D}"/>
              </a:ext>
            </a:extLst>
          </p:cNvPr>
          <p:cNvSpPr txBox="1"/>
          <p:nvPr/>
        </p:nvSpPr>
        <p:spPr>
          <a:xfrm>
            <a:off x="636908" y="7917445"/>
            <a:ext cx="11186460" cy="791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SG" sz="1800" b="1" dirty="0">
                <a:solidFill>
                  <a:srgbClr val="003675"/>
                </a:solidFill>
                <a:ea typeface="ＭＳ Ｐゴシック"/>
              </a:rPr>
              <a:t>Calculating the washing energy rate</a:t>
            </a:r>
          </a:p>
          <a:p>
            <a:pPr defTabSz="914400">
              <a:lnSpc>
                <a:spcPct val="150000"/>
              </a:lnSpc>
            </a:pPr>
            <a:r>
              <a:rPr lang="en-SG" sz="1400" dirty="0">
                <a:solidFill>
                  <a:srgbClr val="003675"/>
                </a:solidFill>
                <a:ea typeface="ＭＳ Ｐゴシック"/>
              </a:rPr>
              <a:t>Washing energy rate (kWh / rack) = [(Booster heating + Tank heating + Wash pump + Rinse booster pump) * 1 hour] / No. of racks per hour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929AE-7432-C4C8-081E-F00266F94071}"/>
              </a:ext>
            </a:extLst>
          </p:cNvPr>
          <p:cNvSpPr txBox="1"/>
          <p:nvPr/>
        </p:nvSpPr>
        <p:spPr>
          <a:xfrm>
            <a:off x="6177848" y="8676406"/>
            <a:ext cx="388247" cy="314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SG" sz="1100" i="1" dirty="0">
                <a:solidFill>
                  <a:srgbClr val="006BD3"/>
                </a:solidFill>
                <a:ea typeface="ＭＳ Ｐゴシック"/>
              </a:rPr>
              <a:t>kW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ED5117-F9A4-93DC-2F3E-6AF94D7EB621}"/>
              </a:ext>
            </a:extLst>
          </p:cNvPr>
          <p:cNvSpPr txBox="1"/>
          <p:nvPr/>
        </p:nvSpPr>
        <p:spPr>
          <a:xfrm>
            <a:off x="9330530" y="8676406"/>
            <a:ext cx="263214" cy="314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SG" sz="1100" i="1">
                <a:solidFill>
                  <a:srgbClr val="006BD3"/>
                </a:solidFill>
                <a:ea typeface="ＭＳ Ｐゴシック"/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ED9022-03D5-B68D-7FF4-7906431540BC}"/>
              </a:ext>
            </a:extLst>
          </p:cNvPr>
          <p:cNvSpPr txBox="1"/>
          <p:nvPr/>
        </p:nvSpPr>
        <p:spPr>
          <a:xfrm>
            <a:off x="10483174" y="8676406"/>
            <a:ext cx="450764" cy="314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SG" sz="1100" i="1" dirty="0">
                <a:solidFill>
                  <a:srgbClr val="006BD3"/>
                </a:solidFill>
                <a:ea typeface="ＭＳ Ｐゴシック"/>
              </a:rPr>
              <a:t>rack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FEC4F8-050D-2654-3DEC-487266D493C6}"/>
              </a:ext>
            </a:extLst>
          </p:cNvPr>
          <p:cNvSpPr txBox="1"/>
          <p:nvPr/>
        </p:nvSpPr>
        <p:spPr>
          <a:xfrm>
            <a:off x="12206114" y="6901379"/>
            <a:ext cx="24676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SG" sz="1100" i="1" dirty="0">
                <a:solidFill>
                  <a:srgbClr val="003675"/>
                </a:solidFill>
                <a:ea typeface="ＭＳ Ｐゴシック"/>
              </a:rPr>
              <a:t>During computation, the </a:t>
            </a:r>
            <a:r>
              <a:rPr lang="en-SG" sz="1100" b="1" i="1" dirty="0">
                <a:solidFill>
                  <a:srgbClr val="003675"/>
                </a:solidFill>
                <a:ea typeface="ＭＳ Ｐゴシック"/>
              </a:rPr>
              <a:t>competitor’s</a:t>
            </a:r>
            <a:r>
              <a:rPr lang="en-SG" sz="1100" i="1" dirty="0">
                <a:solidFill>
                  <a:srgbClr val="003675"/>
                </a:solidFill>
                <a:ea typeface="ＭＳ Ｐゴシック"/>
              </a:rPr>
              <a:t> no. of racks washed per year was used.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F0ECE9AE-16FB-2175-FC5C-DBFD15BE5285}"/>
              </a:ext>
            </a:extLst>
          </p:cNvPr>
          <p:cNvSpPr/>
          <p:nvPr/>
        </p:nvSpPr>
        <p:spPr>
          <a:xfrm>
            <a:off x="11823368" y="6885349"/>
            <a:ext cx="294519" cy="632224"/>
          </a:xfrm>
          <a:prstGeom prst="rightBrace">
            <a:avLst/>
          </a:prstGeom>
          <a:noFill/>
          <a:ln w="6350" cap="flat" cmpd="sng" algn="ctr">
            <a:solidFill>
              <a:srgbClr val="80B5E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2800" b="0" i="0" u="none" strike="noStrike" kern="0" cap="none" spc="0" normalizeH="0" baseline="0" noProof="0">
              <a:ln>
                <a:noFill/>
              </a:ln>
              <a:solidFill>
                <a:srgbClr val="003675"/>
              </a:solidFill>
              <a:effectLst/>
              <a:uLnTx/>
              <a:uFillTx/>
              <a:latin typeface="Arial"/>
              <a:ea typeface="BIZ UDP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3843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colab New Brand 2022">
      <a:dk1>
        <a:srgbClr val="616365"/>
      </a:dk1>
      <a:lt1>
        <a:srgbClr val="FFFFFF"/>
      </a:lt1>
      <a:dk2>
        <a:srgbClr val="006BD3"/>
      </a:dk2>
      <a:lt2>
        <a:srgbClr val="ADAFAF"/>
      </a:lt2>
      <a:accent1>
        <a:srgbClr val="003674"/>
      </a:accent1>
      <a:accent2>
        <a:srgbClr val="4FC2B0"/>
      </a:accent2>
      <a:accent3>
        <a:srgbClr val="38B549"/>
      </a:accent3>
      <a:accent4>
        <a:srgbClr val="DF3834"/>
      </a:accent4>
      <a:accent5>
        <a:srgbClr val="F17922"/>
      </a:accent5>
      <a:accent6>
        <a:srgbClr val="ECC32F"/>
      </a:accent6>
      <a:hlink>
        <a:srgbClr val="006BD3"/>
      </a:hlink>
      <a:folHlink>
        <a:srgbClr val="813B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126_Ecolab_PPT_Template_090919" id="{08C58C77-F116-4544-B8AF-EE39F646D8D3}" vid="{690BB928-5414-DC4F-A73F-6C0D02A38B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a7c287f-c3a1-4a05-88e5-4adc42f651cb">
      <UserInfo>
        <DisplayName>Hunter, Melissa</DisplayName>
        <AccountId>35</AccountId>
        <AccountType/>
      </UserInfo>
      <UserInfo>
        <DisplayName>Gossling, Nick</DisplayName>
        <AccountId>76</AccountId>
        <AccountType/>
      </UserInfo>
      <UserInfo>
        <DisplayName>Lockner, Sarah</DisplayName>
        <AccountId>90</AccountId>
        <AccountType/>
      </UserInfo>
      <UserInfo>
        <DisplayName>Jackson, Steve</DisplayName>
        <AccountId>143</AccountId>
        <AccountType/>
      </UserInfo>
      <UserInfo>
        <DisplayName>Madden, Jacob</DisplayName>
        <AccountId>215</AccountId>
        <AccountType/>
      </UserInfo>
      <UserInfo>
        <DisplayName>Liu, Johnny</DisplayName>
        <AccountId>135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DD79A079335144A3C3A5DFE0FCE78B" ma:contentTypeVersion="11" ma:contentTypeDescription="Create a new document." ma:contentTypeScope="" ma:versionID="df4e8f9aff5cacd5962df1d0927e2151">
  <xsd:schema xmlns:xsd="http://www.w3.org/2001/XMLSchema" xmlns:xs="http://www.w3.org/2001/XMLSchema" xmlns:p="http://schemas.microsoft.com/office/2006/metadata/properties" xmlns:ns2="097d6f4f-a924-4679-ade7-79b3c07a3f21" xmlns:ns3="6a7c287f-c3a1-4a05-88e5-4adc42f651cb" targetNamespace="http://schemas.microsoft.com/office/2006/metadata/properties" ma:root="true" ma:fieldsID="3dd90e96b72142cbfaf50f5ecf6eebd8" ns2:_="" ns3:_="">
    <xsd:import namespace="097d6f4f-a924-4679-ade7-79b3c07a3f21"/>
    <xsd:import namespace="6a7c287f-c3a1-4a05-88e5-4adc42f651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7d6f4f-a924-4679-ade7-79b3c07a3f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c287f-c3a1-4a05-88e5-4adc42f651c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D39F29-E124-4933-859D-695AD1E79F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16DD2E-A737-43C4-BA06-B4D978974306}">
  <ds:schemaRefs>
    <ds:schemaRef ds:uri="http://schemas.microsoft.com/office/infopath/2007/PartnerControls"/>
    <ds:schemaRef ds:uri="http://purl.org/dc/dcmitype/"/>
    <ds:schemaRef ds:uri="http://purl.org/dc/elements/1.1/"/>
    <ds:schemaRef ds:uri="097d6f4f-a924-4679-ade7-79b3c07a3f21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6a7c287f-c3a1-4a05-88e5-4adc42f651cb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775E43F-C540-4FD6-9689-E60A2983DA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7d6f4f-a924-4679-ade7-79b3c07a3f21"/>
    <ds:schemaRef ds:uri="6a7c287f-c3a1-4a05-88e5-4adc42f651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13457f1-9f99-4bd1-8a1b-8dc4cbad8b34}" enabled="1" method="Standard" siteId="{c1eb5112-7946-4c9d-bc57-40040cfe3a9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13859</TotalTime>
  <Words>3696</Words>
  <Application>Microsoft Office PowerPoint</Application>
  <PresentationFormat>Custom</PresentationFormat>
  <Paragraphs>512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1_Office Theme</vt:lpstr>
      <vt:lpstr>PowerPoint Presentation</vt:lpstr>
      <vt:lpstr>Asia Pacific 2025 Utilities Cost</vt:lpstr>
      <vt:lpstr>Machine WW Detergent – SMARTPOWER</vt:lpstr>
      <vt:lpstr>Machine WW Detergent – Solids (non-SMP)</vt:lpstr>
      <vt:lpstr>Machine WW Detergent – Liquids</vt:lpstr>
      <vt:lpstr>Manual WW Detergent – SMARTPOWER</vt:lpstr>
      <vt:lpstr>Sanitizing Wash ‘N Walk / No-Rinse Floor Cleaners</vt:lpstr>
      <vt:lpstr>Pre-Soak Products</vt:lpstr>
      <vt:lpstr>Laundry – Aquanomics</vt:lpstr>
      <vt:lpstr>Laundry – Standard</vt:lpstr>
      <vt:lpstr>Laundry – Low Temperature (Oxyguard)</vt:lpstr>
      <vt:lpstr>Comparison Chart (SEA Only)</vt:lpstr>
      <vt:lpstr>Machine Specifications &amp; Assumptions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Prioritization &amp; Sprint Plan</dc:title>
  <dc:creator>Wang, Priscilla</dc:creator>
  <cp:lastModifiedBy>Toh, Jolie</cp:lastModifiedBy>
  <cp:revision>9</cp:revision>
  <dcterms:created xsi:type="dcterms:W3CDTF">2023-03-07T20:20:14Z</dcterms:created>
  <dcterms:modified xsi:type="dcterms:W3CDTF">2026-03-20T13:27:14Z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0x0101000ADD79A079335144A3C3A5DFE0FCE78B</vt:lpwstr>
  </property>
</Properties>
</file>